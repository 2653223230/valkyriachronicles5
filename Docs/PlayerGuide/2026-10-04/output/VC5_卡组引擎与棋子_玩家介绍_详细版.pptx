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5662dbf01b4f33" /><Relationship Type="http://schemas.openxmlformats.org/officeDocument/2006/relationships/extended-properties" Target="/docProps/app.xml" Id="R69b9990a0b984e11" /><Relationship Type="http://schemas.openxmlformats.org/officeDocument/2006/relationships/officeDocument" Target="/ppt/presentation.xml" Id="R881f1dc54eb843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6f0e34270f4bcf"/>
  </p:sldMasterIdLst>
  <p:notesMasterIdLst>
    <p:notesMasterId xmlns:r="http://schemas.openxmlformats.org/officeDocument/2006/relationships" r:id="Rb7e02ab3beb14ff9"/>
  </p:notesMasterIdLst>
  <p:sldIdLst>
    <p:sldId xmlns:r="http://schemas.openxmlformats.org/officeDocument/2006/relationships" id="256" r:id="R8e5a6bbd78224c23"/>
    <p:sldId xmlns:r="http://schemas.openxmlformats.org/officeDocument/2006/relationships" id="257" r:id="Rd0096a44dd0348cb"/>
    <p:sldId xmlns:r="http://schemas.openxmlformats.org/officeDocument/2006/relationships" id="258" r:id="Ref27daf15d264ed9"/>
    <p:sldId xmlns:r="http://schemas.openxmlformats.org/officeDocument/2006/relationships" id="259" r:id="R821a0bae6d46459c"/>
    <p:sldId xmlns:r="http://schemas.openxmlformats.org/officeDocument/2006/relationships" id="260" r:id="Re8f8f748749e4a99"/>
    <p:sldId xmlns:r="http://schemas.openxmlformats.org/officeDocument/2006/relationships" id="261" r:id="R39a2205bc6364815"/>
    <p:sldId xmlns:r="http://schemas.openxmlformats.org/officeDocument/2006/relationships" id="262" r:id="R9506ca6b8e1247e9"/>
    <p:sldId xmlns:r="http://schemas.openxmlformats.org/officeDocument/2006/relationships" id="263" r:id="Rf561041f41c84e89"/>
    <p:sldId xmlns:r="http://schemas.openxmlformats.org/officeDocument/2006/relationships" id="264" r:id="Rac103d09da854586"/>
    <p:sldId xmlns:r="http://schemas.openxmlformats.org/officeDocument/2006/relationships" id="265" r:id="Ra5cbbfbc65a6492e"/>
    <p:sldId xmlns:r="http://schemas.openxmlformats.org/officeDocument/2006/relationships" id="266" r:id="R6cf4973fa662409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97501048b74125" /><Relationship Type="http://schemas.openxmlformats.org/officeDocument/2006/relationships/slideMaster" Target="/ppt/slideMasters/slideMaster1.xml" Id="Rab6f0e34270f4bcf" /><Relationship Type="http://schemas.openxmlformats.org/officeDocument/2006/relationships/notesMaster" Target="/ppt/notesMasters/notesMaster1.xml" Id="Rb7e02ab3beb14ff9" /><Relationship Type="http://schemas.openxmlformats.org/officeDocument/2006/relationships/presProps" Target="/ppt/presProps.xml" Id="R46552ecbca214f53" /><Relationship Type="http://schemas.openxmlformats.org/officeDocument/2006/relationships/tableStyles" Target="/ppt/tableStyles.xml" Id="Ra19b86a50a8b48e5" /><Relationship Type="http://schemas.openxmlformats.org/officeDocument/2006/relationships/slide" Target="/ppt/slides/slide1.xml" Id="R8e5a6bbd78224c23" /><Relationship Type="http://schemas.openxmlformats.org/officeDocument/2006/relationships/slide" Target="/ppt/slides/slide2.xml" Id="Rd0096a44dd0348cb" /><Relationship Type="http://schemas.openxmlformats.org/officeDocument/2006/relationships/slide" Target="/ppt/slides/slide3.xml" Id="Ref27daf15d264ed9" /><Relationship Type="http://schemas.openxmlformats.org/officeDocument/2006/relationships/slide" Target="/ppt/slides/slide4.xml" Id="R821a0bae6d46459c" /><Relationship Type="http://schemas.openxmlformats.org/officeDocument/2006/relationships/slide" Target="/ppt/slides/slide5.xml" Id="Re8f8f748749e4a99" /><Relationship Type="http://schemas.openxmlformats.org/officeDocument/2006/relationships/slide" Target="/ppt/slides/slide6.xml" Id="R39a2205bc6364815" /><Relationship Type="http://schemas.openxmlformats.org/officeDocument/2006/relationships/slide" Target="/ppt/slides/slide7.xml" Id="R9506ca6b8e1247e9" /><Relationship Type="http://schemas.openxmlformats.org/officeDocument/2006/relationships/slide" Target="/ppt/slides/slide8.xml" Id="Rf561041f41c84e89" /><Relationship Type="http://schemas.openxmlformats.org/officeDocument/2006/relationships/slide" Target="/ppt/slides/slide9.xml" Id="Rac103d09da854586" /><Relationship Type="http://schemas.openxmlformats.org/officeDocument/2006/relationships/slide" Target="/ppt/slides/slide10.xml" Id="Ra5cbbfbc65a6492e" /><Relationship Type="http://schemas.openxmlformats.org/officeDocument/2006/relationships/slide" Target="/ppt/slides/slide11.xml" Id="R6cf4973fa66240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78b484153743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601e5bb2404e9c" /><Relationship Type="http://schemas.openxmlformats.org/officeDocument/2006/relationships/notesMaster" Target="/ppt/notesMasters/notesMaster1.xml" Id="R0101eda27c9b4d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caf0450b9f4dd3" /><Relationship Type="http://schemas.openxmlformats.org/officeDocument/2006/relationships/notesMaster" Target="/ppt/notesMasters/notesMaster1.xml" Id="R3090f8eb89fa40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8a90b28cfc43a3" /><Relationship Type="http://schemas.openxmlformats.org/officeDocument/2006/relationships/notesMaster" Target="/ppt/notesMasters/notesMaster1.xml" Id="R6041ffcc9d3249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08c2a685c24403" /><Relationship Type="http://schemas.openxmlformats.org/officeDocument/2006/relationships/notesMaster" Target="/ppt/notesMasters/notesMaster1.xml" Id="Rbf3a2ae69b834c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cc9a89da354720" /><Relationship Type="http://schemas.openxmlformats.org/officeDocument/2006/relationships/notesMaster" Target="/ppt/notesMasters/notesMaster1.xml" Id="Ref9481615ded428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be991769a44a81" /><Relationship Type="http://schemas.openxmlformats.org/officeDocument/2006/relationships/notesMaster" Target="/ppt/notesMasters/notesMaster1.xml" Id="R276a2ed40f904f8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6eb8ab35fbc43be" /><Relationship Type="http://schemas.openxmlformats.org/officeDocument/2006/relationships/notesMaster" Target="/ppt/notesMasters/notesMaster1.xml" Id="R7c7c6904e94c494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94fda5ba1584386" /><Relationship Type="http://schemas.openxmlformats.org/officeDocument/2006/relationships/notesMaster" Target="/ppt/notesMasters/notesMaster1.xml" Id="Ra1e994d63bf04f6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eb03d0512e44022" /><Relationship Type="http://schemas.openxmlformats.org/officeDocument/2006/relationships/notesMaster" Target="/ppt/notesMasters/notesMaster1.xml" Id="R49be1ed0ab2c492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40f509bc88c4935" /><Relationship Type="http://schemas.openxmlformats.org/officeDocument/2006/relationships/notesMaster" Target="/ppt/notesMasters/notesMaster1.xml" Id="R62df9d9496b244f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84c99c3d4624cbc" /><Relationship Type="http://schemas.openxmlformats.org/officeDocument/2006/relationships/notesMaster" Target="/ppt/notesMasters/notesMaster1.xml" Id="Rb50ccf12a72f4f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内容来源：Docs/VC5_卡组引擎与棋子设计灵感_20261004.md，第1–2节。玩法概念，尚未实现。图示为简化操作场景，不代表正式UI或已验证平衡。现有美术来自本工程 Assets/Art。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内容来源：Docs/VC5_卡组引擎与棋子设计灵感_20261004.md，第1–3、8节。玩法概念，尚未实现。图示为简化操作场景，不代表正式UI或已验证平衡。现有美术来自本工程 Assets/Art。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undefined</a:t>
            </a:r>
          </a:p>
          <a:p xmlns:a="http://schemas.openxmlformats.org/drawingml/2006/main">
            <a:r>
              <a:t>三人乐章当回合结束清空，支援网络要求三人按距离2连通；终端全队本场二选一一次。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undefined</a:t>
            </a:r>
          </a:p>
          <a:p xmlns:a="http://schemas.openxmlformats.org/drawingml/2006/main">
            <a:r>
              <a:t>合奏牌的伤害使用执行者基础射程并需要视线。0AP同名牌全队每回合一次。护盾不叠加，持续至下次己方回合。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内容来源：Docs/VC5_卡组引擎与棋子设计灵感_20261004.md，第4节。玩法概念，尚未实现。图示为简化操作场景，不代表正式UI或已验证平衡。现有美术来自本工程 Assets/Art。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undefined</a:t>
            </a:r>
          </a:p>
          <a:p xmlns:a="http://schemas.openxmlformats.org/drawingml/2006/main">
            <a:r>
              <a:t>筛选剩余牌放牌库底；终端全队本场二选一一次；司书倒下后书库失效。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undefined</a:t>
            </a:r>
          </a:p>
          <a:p xmlns:a="http://schemas.openxmlformats.org/drawingml/2006/main">
            <a:r>
              <a:t>只有实际打出战斗牌才新增已使用记录；弃牌不是使用。0AP同名牌全队每回合一次。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内容来源：Docs/VC5_卡组引擎与棋子设计灵感_20261004.md，第5节。玩法概念，尚未实现。图示为简化操作场景，不代表正式UI或已验证平衡。现有美术来自本工程 Assets/Art。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undefined</a:t>
            </a:r>
          </a:p>
          <a:p xmlns:a="http://schemas.openxmlformats.org/drawingml/2006/main">
            <a:r>
              <a:t>终端全队本场二选一一次；找零件与新形态技能共享每回合一次额度。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undefined</a:t>
            </a:r>
          </a:p>
          <a:p xmlns:a="http://schemas.openxmlformats.org/drawingml/2006/main">
            <a:r>
              <a:t>部署默认距离2且可见，每格1件，构件可与友军共格。0AP同名牌全队每回合一次。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内容来源：Docs/VC5_卡组引擎与棋子设计灵感_20261004.md，第6节。玩法概念，尚未实现。图示为简化操作场景，不代表正式UI或已验证平衡。现有美术来自本工程 Assets/Art。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6b63bb855c4d8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9d31e10178409c" /><Relationship Type="http://schemas.openxmlformats.org/officeDocument/2006/relationships/slideLayout" Target="/ppt/slideLayouts/slideLayout1.xml" Id="R5c332b26ef984c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332b26ef984c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0df197bbb94b62" /><Relationship Type="http://schemas.openxmlformats.org/officeDocument/2006/relationships/image" Target="/ppt/media/image.png" Id="R3cd0bab6899c4331" /><Relationship Type="http://schemas.openxmlformats.org/officeDocument/2006/relationships/notesSlide" Target="/ppt/notesSlides/notesSlide1.xml" Id="R9770beac0deb4a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b92532da464017" /><Relationship Type="http://schemas.openxmlformats.org/officeDocument/2006/relationships/notesSlide" Target="/ppt/notesSlides/notesSlide2.xml" Id="Rf1192e32820a4f4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986efee8fc4014" /><Relationship Type="http://schemas.openxmlformats.org/officeDocument/2006/relationships/image" Target="/ppt/media/image2.png" Id="Rb90beddc177a4eaf" /><Relationship Type="http://schemas.openxmlformats.org/officeDocument/2006/relationships/notesSlide" Target="/ppt/notesSlides/notesSlide3.xml" Id="R82b5b306a3034d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041a70f8f3457c" /><Relationship Type="http://schemas.openxmlformats.org/officeDocument/2006/relationships/notesSlide" Target="/ppt/notesSlides/notesSlide4.xml" Id="R5245df987b6c490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031f9a042f4d89" /><Relationship Type="http://schemas.openxmlformats.org/officeDocument/2006/relationships/notesSlide" Target="/ppt/notesSlides/notesSlide5.xml" Id="R8af93dad1c5d43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24262ffc094175" /><Relationship Type="http://schemas.openxmlformats.org/officeDocument/2006/relationships/image" Target="/ppt/media/image3.png" Id="R315b88a57fdc402f" /><Relationship Type="http://schemas.openxmlformats.org/officeDocument/2006/relationships/notesSlide" Target="/ppt/notesSlides/notesSlide6.xml" Id="R9bac8d7b7d65474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7a7ff448f94dff" /><Relationship Type="http://schemas.openxmlformats.org/officeDocument/2006/relationships/notesSlide" Target="/ppt/notesSlides/notesSlide7.xml" Id="Red1f3b70f25e405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7528f519a8431e" /><Relationship Type="http://schemas.openxmlformats.org/officeDocument/2006/relationships/notesSlide" Target="/ppt/notesSlides/notesSlide8.xml" Id="Rab86b4ff8f4f497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7e625badf249db" /><Relationship Type="http://schemas.openxmlformats.org/officeDocument/2006/relationships/image" Target="/ppt/media/image4.png" Id="R4f286cb7a1134909" /><Relationship Type="http://schemas.openxmlformats.org/officeDocument/2006/relationships/notesSlide" Target="/ppt/notesSlides/notesSlide9.xml" Id="Rabeb0a6f9d9f42c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a837d5618c4fec" /><Relationship Type="http://schemas.openxmlformats.org/officeDocument/2006/relationships/notesSlide" Target="/ppt/notesSlides/notesSlide10.xml" Id="Re76dd86827fb4d2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a47ad757fa44e1" /><Relationship Type="http://schemas.openxmlformats.org/officeDocument/2006/relationships/notesSlide" Target="/ppt/notesSlides/notesSlide11.xml" Id="R699da51a83f4405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0C2003-F795-4B77-93CE-9C199B2B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d0bab6899c433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716DDD-19DA-4440-B08E-146195E4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90825"/>
            <a:ext cx="762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100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VC5 卡牌战棋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9C5AEC-1B8C-4422-96E5-25F88C1E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69570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用三名棋子，运转一整副卡组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410FD8-C078-4BBA-A431-B7FB8C47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7340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玩家玩法概念介绍</a:t>
            </a:r>
          </a:p>
        </p:txBody>
      </p:sp>
    </p:spTree>
    <p:extLst>
      <p:ext uri="{BB962C8B-B14F-4D97-AF65-F5344CB8AC3E}">
        <p14:creationId xmlns:p14="http://schemas.microsoft.com/office/powerpoint/2010/main" val="13922389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3DF0795-B506-403B-9CF3-5CD88ABE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10839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出牌顺序与站位，共同决定你的展开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1BE872-0E53-4E98-9CC6-FCF35010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B50C08-84A6-4E7F-966D-2E69D0A8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37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37D77"/>
                </a:solidFill>
                <a:latin typeface="Microsoft YaHei"/>
                <a:ea typeface="Microsoft YaHei"/>
                <a:cs typeface="Microsoft YaHei"/>
              </a:rPr>
              <a:t>你想做成什么？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807859-D1E1-4923-B9D6-E27068122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76475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先决定爆发、循环或拼装的目标，</a:t>
            </a:r>
          </a:p>
          <a:p xmlns:a="http://schemas.openxmlformats.org/drawingml/2006/main">
            <a:pPr algn="l">
              <a:defRPr sz="2100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再用棋子技能找到缺少的组件。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238129-032D-40D7-8CE9-656B4F8F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战场会改变你的计划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BA3738-93CE-4CF1-8FE7-714E7045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24375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前排接敌，后排寻找射线。</a:t>
            </a:r>
          </a:p>
          <a:p xmlns:a="http://schemas.openxmlformats.org/drawingml/2006/main">
            <a:pPr algn="l">
              <a:defRPr sz="20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留好行动点，保护下一张关键牌。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2C0BCB-AA4F-4E4E-BD36-F5A03D55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002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41B225-2CB2-4C80-86E1-6981B453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16002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6B04D3-021D-4F40-9B05-062DB41E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002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603465-016E-42FB-9641-1A234B978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16002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0D011E-BBC6-45A2-912E-CACB11EC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6002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AA1DEE-74B1-4E35-85E6-769D4C17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6002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E7F698-8FED-4476-BDF8-41E8F2D8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6002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4B900B-2EA9-4EDB-89DA-3BDE59C2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16002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952FD4-A34F-4AE2-BD82-AFD9D6AB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47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B99C92-3517-4A63-BAA0-A7F6D935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047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6BC09F-4E26-4EFD-9242-E73B2FC6C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47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F702D3-1C95-4AD6-9606-0F49BA2E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047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DD176-C616-490F-97E9-0029542F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47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577EEB-3366-42CF-8C42-DA7DD4C9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047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6F89CF-C669-428C-B0B9-D4AFAC807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047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7E501E-A95A-42C4-8F6C-F683A0ED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2047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A3EA37-C0BE-4423-A1DB-4026D49C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955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B33119-402C-4708-8C4F-E8524B88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4955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C75F6C-2D40-4610-8D3D-0CF0E3BB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955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1DECEC-12F4-4841-9A1C-DD46277E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4955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F86723-C8A2-4B0E-815F-5E6D3C90C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955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877118-4D19-47CF-B7D4-243F54456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4955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0DFA5B-54FE-4CC0-9F0A-98255B43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4955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203E98-8E78-4FFB-AD63-C4ADC8E9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24955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BB8305-572E-4136-8159-22CCC31C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432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0EB4B1-8106-430B-A168-0F9E81D32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9432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A2D707-4318-4B2D-A3AD-3F5C2C8ED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432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5BDF47-5027-429C-97ED-D933B8CF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9432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90C5F0-9E48-4138-998F-16C81118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432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91D2DCC-B9F8-46B7-948B-9638CBB3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9432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477A42-EF77-4DD5-951F-C28F5108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9432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B3A74BB-EF6E-4D02-9DA4-B44E5249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29432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A03A26C-9702-447C-9F48-ABCA04D1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909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8242623-EDD4-43DE-8A2B-59C11CE8C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3909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02F99C6-FA80-44AD-B1B1-180BBB22F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909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9E09054-C534-4235-AA39-FE16754A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3909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A4C4D48-5E5B-4296-BE29-98572E8AB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909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3D7B102-6042-4343-B39A-AFAF0C0B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3909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AD7517E-7CB9-4C18-A555-9DF824370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3909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1DD372D-DFC7-427E-B2A4-3AA2DC3E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33909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33314A7-0B0A-4346-A078-6F6C9EB6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385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A28B2F5-A32B-492A-B7DF-C72BF316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8385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9A1B6D8-5277-4B14-9217-1055D8F0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385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BC93D5F-30A1-4DC9-B40A-87F58EB4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8385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7D3A145-2B9F-4297-89A6-5DE4758C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8385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8DAF5F4-C370-43DF-B851-7513234E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8385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41449F8-D940-4E23-AD68-7832388B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8385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E61DCBC-CD5F-4A91-ADB6-21A0A217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38385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85570F6-30A6-4236-9069-F2A54BC8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86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8992B08-0D67-4725-9397-99B92C68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286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1FB4224-0458-4936-A2D4-0D2D52D0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286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A6B7C75-7B3D-432E-BA8F-A5B891CD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4286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2A3BB16-DF84-467D-83D5-55ACB6A1A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286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BD61679-BBBF-40D2-8C01-8704DC9B3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286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E0B8635-A8E7-435C-8CB7-2A411A998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286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B749CAD-C789-4557-860F-67C040E8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4286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AD291A4-39E3-49DB-8AB4-9A3D77597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339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785A276-FABD-46F0-A38A-18217535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7339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7B8A4BD-8A9F-490A-B85E-ED187718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7339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781CF7E-4F2C-4397-9909-2ABD15D0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47339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BCAA92F-E87C-4D4E-9312-05E7A256C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7339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64B1257-6E4E-4F41-9B5E-9761A3B1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7339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157D5AF-35BF-4C58-8E5D-E5BF67810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7339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0"/>
          </a:solidFill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A464787-AF01-4ED4-831C-11A57E38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47339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DD"/>
          </a:solidFill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FAABEE7-65F2-4A40-A44A-96A4D2029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38525"/>
            <a:ext cx="333375" cy="333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7D77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51AD597-7D67-4559-8CC9-1BD407571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48050"/>
            <a:ext cx="333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前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5E44702-463E-4D6A-87E5-F4ADA682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886200"/>
            <a:ext cx="333375" cy="333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FC1"/>
          </a:solidFill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9EF1539-24CA-436F-9C08-892CAF0A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895725"/>
            <a:ext cx="333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后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8B5815D-F5A8-4396-B308-E3D7A3F6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886200"/>
            <a:ext cx="333375" cy="333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67A0"/>
          </a:solidFill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0A2EB83-7252-4ECD-AFE4-36DB2D7AD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895725"/>
            <a:ext cx="333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援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BF4A563-DDE9-4295-9148-414D732A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90850"/>
            <a:ext cx="333375" cy="333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6451"/>
          </a:solidFill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878D3C9-A886-46C2-8BDF-64F532E3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00375"/>
            <a:ext cx="333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敌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6CE04DB-BF15-4110-9A56-05C6815DD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33650"/>
            <a:ext cx="3524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998E"/>
          </a:solidFill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9FC5C00-9CF0-44CE-9A79-FF59D9C6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43175"/>
            <a:ext cx="3524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障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6A6E8CC-6494-460F-8ED9-835FADA3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81325"/>
            <a:ext cx="3524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998E"/>
          </a:solidFill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12FD539-3ECC-42EA-A795-789B1A080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90850"/>
            <a:ext cx="3524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障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6A173D8-22EA-471A-889D-D11C401B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533650"/>
            <a:ext cx="3524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998E"/>
          </a:solidFill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3990273-1EF0-4720-987D-B21227C84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543175"/>
            <a:ext cx="3524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障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10CD87F-A478-4699-AF42-8290FA90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429250"/>
            <a:ext cx="3619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8×8 战场示意</a:t>
            </a:r>
          </a:p>
        </p:txBody>
      </p:sp>
    </p:spTree>
    <p:extLst>
      <p:ext uri="{BB962C8B-B14F-4D97-AF65-F5344CB8AC3E}">
        <p14:creationId xmlns:p14="http://schemas.microsoft.com/office/powerpoint/2010/main" val="2746269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DFF0E5-B334-425A-941D-983170FB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10839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星火合奏：三人的技能，让接力更顺畅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B5DBD0-12A4-4151-8D6D-7111D8BD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0beddc177a4eaf"/>
          <a:stretch xmlns:a="http://schemas.openxmlformats.org/drawingml/2006/main"/>
        </p:blipFill>
        <p:spPr>
          <a:xfrm xmlns:a="http://schemas.openxmlformats.org/drawingml/2006/main">
            <a:off x="769938" y="1571625"/>
            <a:ext cx="2127250" cy="31908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C77CA0-5694-445D-976B-88702A8D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672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角色美术示意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9F0B0E-DC0D-4AD3-8E5A-6D6BFF6C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390650"/>
            <a:ext cx="7858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17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A17422"/>
                </a:solidFill>
                <a:latin typeface="Microsoft YaHei"/>
                <a:ea typeface="Microsoft YaHei"/>
                <a:cs typeface="Microsoft YaHei"/>
              </a:rPr>
              <a:t>灯锋卫  3 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737911-8DC7-469C-A50C-B9ED60919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57375"/>
            <a:ext cx="7858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找开场，1 AP：随机检索一张「引线」或「借位」。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932BD5-072F-4045-8748-9127F879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66975"/>
            <a:ext cx="7858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17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A17422"/>
                </a:solidFill>
                <a:latin typeface="Microsoft YaHei"/>
                <a:ea typeface="Microsoft YaHei"/>
                <a:cs typeface="Microsoft YaHei"/>
              </a:rPr>
              <a:t>星织师  3 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88B4AC-3B35-4A2A-A9EA-5FAD545A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33700"/>
            <a:ext cx="7858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选曲，1 AP：看顶3张，选一张合奏牌入手。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FE1BCF-E994-4F06-9897-5F931F55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43300"/>
            <a:ext cx="7858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17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A17422"/>
                </a:solidFill>
                <a:latin typeface="Microsoft YaHei"/>
                <a:ea typeface="Microsoft YaHei"/>
                <a:cs typeface="Microsoft YaHei"/>
              </a:rPr>
              <a:t>传灯使  2 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F43189-6C30-4A7F-A891-EC49BEDF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010025"/>
            <a:ext cx="7858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续接，1 AP：回收一张「引线」或「传火」。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FAF4A6-8F83-4758-A9FC-643E0CF5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81575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17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A17422"/>
                </a:solidFill>
                <a:latin typeface="Microsoft YaHei"/>
                <a:ea typeface="Microsoft YaHei"/>
                <a:cs typeface="Microsoft YaHei"/>
              </a:rPr>
              <a:t>终端：三重奏·贯日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A96738-9510-4051-BC6B-981340D10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95925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三人各打过合奏牌并保持支援距离，消耗三份乐章。</a:t>
            </a:r>
          </a:p>
          <a:p xmlns:a="http://schemas.openxmlformats.org/drawingml/2006/main">
            <a:pPr algn="l">
              <a:defRPr sz="1800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星织师花1 AP，对射程3内可见敌人造成6伤害。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3797E1-6317-4777-BC3A-025FCE457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81725"/>
            <a:ext cx="10763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另一终端：守夜。传灯使花1 AP，三人各获3护盾，并抽2张。</a:t>
            </a:r>
          </a:p>
        </p:txBody>
      </p:sp>
    </p:spTree>
    <p:extLst>
      <p:ext uri="{BB962C8B-B14F-4D97-AF65-F5344CB8AC3E}">
        <p14:creationId xmlns:p14="http://schemas.microsoft.com/office/powerpoint/2010/main" val="38680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4602F8-686A-4F3A-A52B-572CDEEB5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10839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星火合奏：攻击、换牌和走位都能接曲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B5C205-FBF6-402D-8528-3BF7193D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28650" y="1476375"/>
          <a:ext xmlns:a="http://schemas.openxmlformats.org/drawingml/2006/main" cx="10934700" cy="4629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09800"/>
                <a:gridCol w="838200"/>
                <a:gridCol w="7886700"/>
              </a:tblGrid>
              <a:tr h="514350"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卡牌</a:t>
                      </a:r>
                    </a:p>
                  </a:txBody>
                  <a:tcPr marL="91440" marR="91440" marT="45720" marB="45720" anchor="ctr">
                    <a:solidFill>
                      <a:srgbClr val="163C3B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AP</a:t>
                      </a:r>
                    </a:p>
                  </a:txBody>
                  <a:tcPr marL="91440" marR="91440" marT="45720" marB="45720" anchor="ctr">
                    <a:solidFill>
                      <a:srgbClr val="163C3B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效果</a:t>
                      </a:r>
                    </a:p>
                  </a:txBody>
                  <a:tcPr marL="91440" marR="91440" marT="45720" marB="45720" anchor="ctr">
                    <a:solidFill>
                      <a:srgbClr val="163C3B"/>
                    </a:solidFill>
                  </a:tcPr>
                </a:tc>
              </a:tr>
              <a:tr h="514350"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引线 ×3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造成1伤害，抽1张。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传火 ×3</a:t>
                      </a:r>
                    </a:p>
                  </a:txBody>
                  <a:tcPr marL="91440" marR="91440" marT="45720" marB="45720" anchor="ctr">
                    <a:solidFill>
                      <a:srgbClr val="EAF0E5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AF0E5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造成2伤害。上一张合奏牌由队友使用时，改为3伤害。</a:t>
                      </a:r>
                    </a:p>
                  </a:txBody>
                  <a:tcPr marL="91440" marR="91440" marT="45720" marB="45720" anchor="ctr">
                    <a:solidFill>
                      <a:srgbClr val="EAF0E5"/>
                    </a:solidFill>
                  </a:tcPr>
                </a:tc>
              </a:tr>
              <a:tr h="514350"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接棒 ×2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弃1张其他手牌，再抽1张。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借位 ×2</a:t>
                      </a:r>
                    </a:p>
                  </a:txBody>
                  <a:tcPr marL="91440" marR="91440" marT="45720" marB="45720" anchor="ctr">
                    <a:solidFill>
                      <a:srgbClr val="EAF0E5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AF0E5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自己移动1格，抽1张。</a:t>
                      </a:r>
                    </a:p>
                  </a:txBody>
                  <a:tcPr marL="91440" marR="91440" marT="45720" marB="45720" anchor="ctr">
                    <a:solidFill>
                      <a:srgbClr val="EAF0E5"/>
                    </a:solidFill>
                  </a:tcPr>
                </a:tc>
              </a:tr>
              <a:tr h="514350"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导奏 ×2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回收1张「引线」或「传火」。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余音护持 ×2</a:t>
                      </a:r>
                    </a:p>
                  </a:txBody>
                  <a:tcPr marL="91440" marR="91440" marT="45720" marB="45720" anchor="ctr">
                    <a:solidFill>
                      <a:srgbClr val="EAF0E5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AF0E5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自己获2护盾。另一人已有乐章时，抽1张。</a:t>
                      </a:r>
                    </a:p>
                  </a:txBody>
                  <a:tcPr marL="91440" marR="91440" marT="45720" marB="45720" anchor="ctr">
                    <a:solidFill>
                      <a:srgbClr val="EAF0E5"/>
                    </a:solidFill>
                  </a:tcPr>
                </a:tc>
              </a:tr>
              <a:tr h="514350"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稳步推进 ×2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移动1–2格，自己获1护盾。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掩护 ×2</a:t>
                      </a:r>
                    </a:p>
                  </a:txBody>
                  <a:tcPr marL="91440" marR="91440" marT="45720" marB="45720" anchor="ctr">
                    <a:solidFill>
                      <a:srgbClr val="EAF0E5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AF0E5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自己获2护盾。</a:t>
                      </a:r>
                    </a:p>
                  </a:txBody>
                  <a:tcPr marL="91440" marR="91440" marT="45720" marB="45720" anchor="ctr">
                    <a:solidFill>
                      <a:srgbClr val="EAF0E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F3DC27-81B8-49D6-BDF6-C169E4B4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674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前六种是合奏牌。每人本回合首次打出，点亮自己的乐章。</a:t>
            </a:r>
          </a:p>
        </p:txBody>
      </p:sp>
    </p:spTree>
    <p:extLst>
      <p:ext uri="{BB962C8B-B14F-4D97-AF65-F5344CB8AC3E}">
        <p14:creationId xmlns:p14="http://schemas.microsoft.com/office/powerpoint/2010/main" val="693291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11E80E2-61B3-4542-B2E2-3FA31FB3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10839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合奏 combo：接力、回收，再兑现贯日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5B21F6-A012-4792-91A0-2604B91B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54C1E4-EA03-41D2-AE84-F8905673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9347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准备：三人能互相支援，有合法目标和射线；手里留一张可弃牌。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28F8F7-EFEA-42C3-B718-BDB8C7A0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742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0D5C81-E761-43DB-883F-9783FC27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D5835D-42CB-424D-BFBD-EAD14163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4310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17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A17422"/>
                </a:solidFill>
                <a:latin typeface="Microsoft YaHei"/>
                <a:ea typeface="Microsoft YaHei"/>
                <a:cs typeface="Microsoft YaHei"/>
              </a:rPr>
              <a:t>灯锋卫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052B69-6400-4B2F-A6BC-6C8D17BF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943100"/>
            <a:ext cx="7696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引线：1伤害、抽1，点亮第一份乐章。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803937-5ED5-4993-923F-FEF4106E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1943100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1 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7DBDC8-A015-4AAB-9A31-4A57B112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742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BDFA4E-B90A-4CB0-9398-75AF1921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4D5A0A-EC48-414D-9ED2-4190DEE8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669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17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A17422"/>
                </a:solidFill>
                <a:latin typeface="Microsoft YaHei"/>
                <a:ea typeface="Microsoft YaHei"/>
                <a:cs typeface="Microsoft YaHei"/>
              </a:rPr>
              <a:t>传灯使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DF8A9D-78B5-48F8-BA5F-50F1717E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466975"/>
            <a:ext cx="7696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接棒：弃1抽1，点亮第二份乐章。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E277F6-521E-4090-A249-B759E95A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466975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0 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9CF3DF-77D7-48CA-9F71-A05590C1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742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D5F818-C55E-446D-A69D-BA734837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D85B16-0E0D-485D-9B47-D81585A7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9085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17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A17422"/>
                </a:solidFill>
                <a:latin typeface="Microsoft YaHei"/>
                <a:ea typeface="Microsoft YaHei"/>
                <a:cs typeface="Microsoft YaHei"/>
              </a:rPr>
              <a:t>星织师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0708CB-ADF0-4891-B1D8-C0A396E0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990850"/>
            <a:ext cx="7696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传火：队友接力，造成3伤，三份乐章齐备。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CF4EA6-EE99-4A1F-98BB-C4B83BEF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990850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1 AP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A68765-887D-47D8-A305-DA610377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52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742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8812B2-3C7B-442A-B8C4-7A40A732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528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134DD5-AB0B-4948-84A6-3B921BDF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147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17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A17422"/>
                </a:solidFill>
                <a:latin typeface="Microsoft YaHei"/>
                <a:ea typeface="Microsoft YaHei"/>
                <a:cs typeface="Microsoft YaHei"/>
              </a:rPr>
              <a:t>灯锋卫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FC038D-4F36-4624-B970-BAFCF6A6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514725"/>
            <a:ext cx="7696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借位：移动1格、抽1，让接力继续。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349D2C-0526-4379-8053-34C4F25A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514725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1 AP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F31936-3863-4E9D-B12F-307D49898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7422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E664D0-9989-417B-9145-6A00D158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C1B9EF-A68D-4274-8610-0544D346B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3860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17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A17422"/>
                </a:solidFill>
                <a:latin typeface="Microsoft YaHei"/>
                <a:ea typeface="Microsoft YaHei"/>
                <a:cs typeface="Microsoft YaHei"/>
              </a:rPr>
              <a:t>传灯使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96E870-3074-44D1-9868-168099B2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038600"/>
            <a:ext cx="7696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导奏：把刚用过的传火取回手牌。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624AD8-F36F-4BE0-899D-049FC1DC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38600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1 AP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4FB37F-10CC-44F1-875A-3FD39CC1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005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7422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CEB72D-1C04-4B5E-99C4-6F4EA9E3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005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C74217-C3CE-479E-881C-F6AD8A147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624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17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A17422"/>
                </a:solidFill>
                <a:latin typeface="Microsoft YaHei"/>
                <a:ea typeface="Microsoft YaHei"/>
                <a:cs typeface="Microsoft YaHei"/>
              </a:rPr>
              <a:t>星织师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0AB0B4-E403-448E-841B-EDB16A4F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562475"/>
            <a:ext cx="7696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再打传火：再次接力，造成3伤。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C1511E-DE32-4B2F-B16A-AC5A5130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562475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1 AP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326C68-8517-4522-8840-5B3F7574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24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7422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179FCA4-9546-4222-BD18-7554A158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244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C1475F-D927-46AA-9917-71ADEC7A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08635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17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A17422"/>
                </a:solidFill>
                <a:latin typeface="Microsoft YaHei"/>
                <a:ea typeface="Microsoft YaHei"/>
                <a:cs typeface="Microsoft YaHei"/>
              </a:rPr>
              <a:t>星织师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C165BFA-1A59-44C3-BF86-1070A0AE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5086350"/>
            <a:ext cx="7696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贯日：消耗三份乐章，造成6伤。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6D87F1F-04A3-45F0-9348-E2B58FDE9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5086350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1 AP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A6224D3-3FF6-42CE-9F8A-6767400F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38825"/>
            <a:ext cx="1093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17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A17422"/>
                </a:solidFill>
                <a:latin typeface="Microsoft YaHei"/>
                <a:ea typeface="Microsoft YaHei"/>
                <a:cs typeface="Microsoft YaHei"/>
              </a:rPr>
              <a:t>6 AP，打出6张牌，再启动终端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3D5A250-0A25-4DD0-A6D9-429C7C4C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无防御合计13伤害，可分配到不同合法目标。也可提前兑现或改选守夜。</a:t>
            </a:r>
          </a:p>
        </p:txBody>
      </p:sp>
    </p:spTree>
    <p:extLst>
      <p:ext uri="{BB962C8B-B14F-4D97-AF65-F5344CB8AC3E}">
        <p14:creationId xmlns:p14="http://schemas.microsoft.com/office/powerpoint/2010/main" val="11314533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42A833-DBD9-4E5C-AB4A-6CE5B362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10839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余烬档案：留住旧牌，找到下一轮的答案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2A5CDB-824B-45B4-8841-D7EF0DC8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5b88a57fdc402f"/>
          <a:stretch xmlns:a="http://schemas.openxmlformats.org/drawingml/2006/main"/>
        </p:blipFill>
        <p:spPr>
          <a:xfrm xmlns:a="http://schemas.openxmlformats.org/drawingml/2006/main">
            <a:off x="769938" y="1571625"/>
            <a:ext cx="2127250" cy="31908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DE8BBA-804D-432F-817C-4DDFC1EA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672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角色美术示意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1099E4-AC22-47A7-8A37-0DEC193B7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390650"/>
            <a:ext cx="7858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46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7467A0"/>
                </a:solidFill>
                <a:latin typeface="Microsoft YaHei"/>
                <a:ea typeface="Microsoft YaHei"/>
                <a:cs typeface="Microsoft YaHei"/>
              </a:rPr>
              <a:t>守卷卫  3 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E9EE10-3F3A-4BA0-BA62-892B3311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57375"/>
            <a:ext cx="7858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封存，1 AP：弃1张其他手牌，自己获得3护盾。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D5C353-0782-44F5-97CE-1871304EF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66975"/>
            <a:ext cx="7858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46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7467A0"/>
                </a:solidFill>
                <a:latin typeface="Microsoft YaHei"/>
                <a:ea typeface="Microsoft YaHei"/>
                <a:cs typeface="Microsoft YaHei"/>
              </a:rPr>
              <a:t>烬文师  3 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94967E-7554-46F6-B6FF-05340E2E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33700"/>
            <a:ext cx="7858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查卷，1 AP：看顶3张，选一张战斗牌入手。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CC5E89-7F04-4E70-B6F0-0C37BC563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43300"/>
            <a:ext cx="7858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46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7467A0"/>
                </a:solidFill>
                <a:latin typeface="Microsoft YaHei"/>
                <a:ea typeface="Microsoft YaHei"/>
                <a:cs typeface="Microsoft YaHei"/>
              </a:rPr>
              <a:t>司书医者  2 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AAC594-0D74-46CB-B8FF-F90BDB55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010025"/>
            <a:ext cx="7858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取回，1 AP：回收一张费用至少1 AP的战斗牌。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16D277-6989-43E9-8E38-82EE4152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81575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746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7467A0"/>
                </a:solidFill>
                <a:latin typeface="Microsoft YaHei"/>
                <a:ea typeface="Microsoft YaHei"/>
                <a:cs typeface="Microsoft YaHei"/>
              </a:rPr>
              <a:t>终端：轮转书库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0B222B-1BD6-474B-9D14-712835CE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95925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司书花1 AP，除外三种不同的已用战斗牌，建立持续回收能力。</a:t>
            </a:r>
          </a:p>
          <a:p xmlns:a="http://schemas.openxmlformats.org/drawingml/2006/main">
            <a:pPr algn="l">
              <a:defRPr sz="1800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每回合首次打出档案战斗牌后，可取回另一张战斗牌。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1C96E6-68F7-44C6-8F2A-A23868A89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81725"/>
            <a:ext cx="10763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另一终端：焚卷急救。支付相同素材，距离2内友军回复3 HP并获3护盾，抽2张。</a:t>
            </a:r>
          </a:p>
        </p:txBody>
      </p:sp>
    </p:spTree>
    <p:extLst>
      <p:ext uri="{BB962C8B-B14F-4D97-AF65-F5344CB8AC3E}">
        <p14:creationId xmlns:p14="http://schemas.microsoft.com/office/powerpoint/2010/main" val="7623735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EDFDB1-072A-4FB4-9E2A-876252B6D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10839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余烬档案：哪些牌留在墓地，由你决定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2F3360-88B5-4004-B7E5-3F24912F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28650" y="1476375"/>
          <a:ext xmlns:a="http://schemas.openxmlformats.org/drawingml/2006/main" cx="10934700" cy="4629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09800"/>
                <a:gridCol w="838200"/>
                <a:gridCol w="7886700"/>
              </a:tblGrid>
              <a:tr h="514350"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卡牌</a:t>
                      </a:r>
                    </a:p>
                  </a:txBody>
                  <a:tcPr marL="91440" marR="91440" marT="45720" marB="45720" anchor="ctr">
                    <a:solidFill>
                      <a:srgbClr val="163C3B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AP</a:t>
                      </a:r>
                    </a:p>
                  </a:txBody>
                  <a:tcPr marL="91440" marR="91440" marT="45720" marB="45720" anchor="ctr">
                    <a:solidFill>
                      <a:srgbClr val="163C3B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效果</a:t>
                      </a:r>
                    </a:p>
                  </a:txBody>
                  <a:tcPr marL="91440" marR="91440" marT="45720" marB="45720" anchor="ctr">
                    <a:solidFill>
                      <a:srgbClr val="163C3B"/>
                    </a:solidFill>
                  </a:tcPr>
                </a:tc>
              </a:tr>
              <a:tr h="514350"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余烬箭 ×3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造成2伤害。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巡护誓言 ×3</a:t>
                      </a:r>
                    </a:p>
                  </a:txBody>
                  <a:tcPr marL="91440" marR="91440" marT="45720" marB="45720" anchor="ctr">
                    <a:solidFill>
                      <a:srgbClr val="EAF0E5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AF0E5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移动1格，自己获2护盾。</a:t>
                      </a:r>
                    </a:p>
                  </a:txBody>
                  <a:tcPr marL="91440" marR="91440" marT="45720" marB="45720" anchor="ctr">
                    <a:solidFill>
                      <a:srgbClr val="EAF0E5"/>
                    </a:solidFill>
                  </a:tcPr>
                </a:tc>
              </a:tr>
              <a:tr h="514350"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归档 ×2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弃1张其他手牌，看顶3张，选1张入手。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借阅 ×2</a:t>
                      </a:r>
                    </a:p>
                  </a:txBody>
                  <a:tcPr marL="91440" marR="91440" marT="45720" marB="45720" anchor="ctr">
                    <a:solidFill>
                      <a:srgbClr val="EAF0E5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AF0E5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回收一张费用至少1 AP的战斗牌。</a:t>
                      </a:r>
                    </a:p>
                  </a:txBody>
                  <a:tcPr marL="91440" marR="91440" marT="45720" marB="45720" anchor="ctr">
                    <a:solidFill>
                      <a:srgbClr val="EAF0E5"/>
                    </a:solidFill>
                  </a:tcPr>
                </a:tc>
              </a:tr>
              <a:tr h="514350"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再诵 ×2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造成2伤害。弃牌区有另一张同名牌时，改为3伤害。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换页 ×2</a:t>
                      </a:r>
                    </a:p>
                  </a:txBody>
                  <a:tcPr marL="91440" marR="91440" marT="45720" marB="45720" anchor="ctr">
                    <a:solidFill>
                      <a:srgbClr val="EAF0E5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EAF0E5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将弃牌区1张战斗牌放到牌库底，抽1张。</a:t>
                      </a:r>
                    </a:p>
                  </a:txBody>
                  <a:tcPr marL="91440" marR="91440" marT="45720" marB="45720" anchor="ctr">
                    <a:solidFill>
                      <a:srgbClr val="EAF0E5"/>
                    </a:solidFill>
                  </a:tcPr>
                </a:tc>
              </a:tr>
              <a:tr h="514350"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稳步推进 ×2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移动1–2格，自己获1护盾。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掩护 ×2</a:t>
                      </a:r>
                    </a:p>
                  </a:txBody>
                  <a:tcPr marL="91440" marR="91440" marT="45720" marB="45720" anchor="ctr">
                    <a:solidFill>
                      <a:srgbClr val="EAF0E5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AF0E5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自己获2护盾。</a:t>
                      </a:r>
                    </a:p>
                  </a:txBody>
                  <a:tcPr marL="91440" marR="91440" marT="45720" marB="45720" anchor="ctr">
                    <a:solidFill>
                      <a:srgbClr val="EAF0E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ED3AA2-BB4C-4120-8B5F-0211058F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674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战斗牌指攻击、移动、防护牌。回收牌再用后放牌库底，不进弃牌区。</a:t>
            </a:r>
          </a:p>
        </p:txBody>
      </p:sp>
    </p:spTree>
    <p:extLst>
      <p:ext uri="{BB962C8B-B14F-4D97-AF65-F5344CB8AC3E}">
        <p14:creationId xmlns:p14="http://schemas.microsoft.com/office/powerpoint/2010/main" val="14247117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FD0B6F0-0795-4F0B-A584-84E30ADE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10839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档案 combo：一次准备，换来持续回收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2F72DD-E82D-432C-B4B0-2EDDBBF5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70702A-C0E9-47F8-92FA-2B0FE064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9347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上回合已用过余烬箭、巡护誓言、再诵各1张，三张留在弃牌区。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F73C62-3DF9-4552-818A-7BEA4989A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67A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4439D1-977B-4D55-9C16-26DFF533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55D80B-5145-4F4F-AADC-C45CFD0D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4310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46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467A0"/>
                </a:solidFill>
                <a:latin typeface="Microsoft YaHei"/>
                <a:ea typeface="Microsoft YaHei"/>
                <a:cs typeface="Microsoft YaHei"/>
              </a:rPr>
              <a:t>守卷卫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9EFD01-5BC2-4D54-B7BE-81C1F74D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943100"/>
            <a:ext cx="7696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巡护誓言：移动1格、获2盾，留下新回收目标。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D54171-45D9-48E0-AD9F-2FF30424A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1943100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1 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96FEF4-1BF4-4E88-8990-4FC9E7AD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67A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1B205A-E70B-4FE4-884F-508F6853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BC6CF0-8B57-4B1C-B8EE-BA23CACB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669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46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467A0"/>
                </a:solidFill>
                <a:latin typeface="Microsoft YaHei"/>
                <a:ea typeface="Microsoft YaHei"/>
                <a:cs typeface="Microsoft YaHei"/>
              </a:rPr>
              <a:t>司书医者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9C97A7-3987-4B4E-B829-6E4CEEF8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466975"/>
            <a:ext cx="7696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轮转书库：除外上回合三张素材，留下新的巡护。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4C2DD1-3E0A-4832-9B93-B92A6EA4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466975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1 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F6DDE3-E236-49AE-9766-7EB81657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67A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CF295B-2EC4-48CB-BB61-EE4EF64FF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CFC310-8291-48AE-BE2F-0FED57A8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9085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46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467A0"/>
                </a:solidFill>
                <a:latin typeface="Microsoft YaHei"/>
                <a:ea typeface="Microsoft YaHei"/>
                <a:cs typeface="Microsoft YaHei"/>
              </a:rPr>
              <a:t>烬文师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916FF8-CFBD-46ED-98A2-D7F4F765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990850"/>
            <a:ext cx="7696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余烬箭：造成2伤，书库取回刚用过的巡护。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A9DC08-85DB-49D0-A757-620C9980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990850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1 AP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41EA59-FC50-46B7-BCAC-0819F466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52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67A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3DDAFC-F761-477A-8E7D-7B819BA9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528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CBDF63-4888-4323-A488-D485E21C0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147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46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467A0"/>
                </a:solidFill>
                <a:latin typeface="Microsoft YaHei"/>
                <a:ea typeface="Microsoft YaHei"/>
                <a:cs typeface="Microsoft YaHei"/>
              </a:rPr>
              <a:t>守卷卫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D900F6-1C04-4761-8C91-2BE7E6DC4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514725"/>
            <a:ext cx="7696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再打巡护：再走1格、刷新2盾，牌放回牌库底。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CA6935-0132-46FF-B27C-F0E3E431A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514725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1 AP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4F8A00-6539-4D82-B88A-068D240F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67A0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585CAE-FAF9-423A-886C-ACAB1319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137AC2-C8D9-452E-8BCA-12285388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3860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46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467A0"/>
                </a:solidFill>
                <a:latin typeface="Microsoft YaHei"/>
                <a:ea typeface="Microsoft YaHei"/>
                <a:cs typeface="Microsoft YaHei"/>
              </a:rPr>
              <a:t>司书医者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3B11D2-CE44-4B18-B5E4-A5B9D8D9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038600"/>
            <a:ext cx="7696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借阅：取回步骤3打出的余烬箭。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258787-7638-461C-8BAD-E98EA0B2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38600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1 AP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A7EF04-CF97-41F3-B345-04630358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005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67A0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CA6A74-6CA1-482A-A9CD-699F6440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005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569042-E107-4F78-A779-7CCF0C8C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624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46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467A0"/>
                </a:solidFill>
                <a:latin typeface="Microsoft YaHei"/>
                <a:ea typeface="Microsoft YaHei"/>
                <a:cs typeface="Microsoft YaHei"/>
              </a:rPr>
              <a:t>烬文师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0A87E7-CCBC-49ED-B7EA-04BA1CD8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562475"/>
            <a:ext cx="7696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再打余烬箭：再造成2伤，牌放回牌库底。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A1121E-ED43-4119-946F-34FBE061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562475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1 AP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414A8D-E70F-4A04-AB23-8A663A18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38825"/>
            <a:ext cx="1093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746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7467A0"/>
                </a:solidFill>
                <a:latin typeface="Microsoft YaHei"/>
                <a:ea typeface="Microsoft YaHei"/>
                <a:cs typeface="Microsoft YaHei"/>
              </a:rPr>
              <a:t>6 AP，打出5张牌，书库留到下一回合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FCF6560-B042-4C76-9AA8-323D64D4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循环收益来自选回需要的牌；书库每回合最多触发一次，回收不让卡牌免费。</a:t>
            </a:r>
          </a:p>
        </p:txBody>
      </p:sp>
    </p:spTree>
    <p:extLst>
      <p:ext uri="{BB962C8B-B14F-4D97-AF65-F5344CB8AC3E}">
        <p14:creationId xmlns:p14="http://schemas.microsoft.com/office/powerpoint/2010/main" val="4569985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5E1496-3E50-4F55-8264-64DD65C7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10839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遗迹工坊：找件、搬运、翻修，各有分工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9FAEBE-A793-4738-B351-C77BE4E1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286cb7a1134909"/>
          <a:stretch xmlns:a="http://schemas.openxmlformats.org/drawingml/2006/main"/>
        </p:blipFill>
        <p:spPr>
          <a:xfrm xmlns:a="http://schemas.openxmlformats.org/drawingml/2006/main">
            <a:off x="769938" y="1571625"/>
            <a:ext cx="2127250" cy="31908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CDBD45-0003-47DD-AED8-1974863E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672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角色美术示意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CC05C1-EEA5-49F3-A90D-9BE3A849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390650"/>
            <a:ext cx="7858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37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7D77"/>
                </a:solidFill>
                <a:latin typeface="Microsoft YaHei"/>
                <a:ea typeface="Microsoft YaHei"/>
                <a:cs typeface="Microsoft YaHei"/>
              </a:rPr>
              <a:t>搬运护卫  3 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067986-1E44-4C10-BDE9-FE88722D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57375"/>
            <a:ext cx="7858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护送，1 AP：搬走距离2内构件，再自己移动最多1格。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8CC3F3-C0F9-42F7-AECC-AC8881BB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66975"/>
            <a:ext cx="7858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37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7D77"/>
                </a:solidFill>
                <a:latin typeface="Microsoft YaHei"/>
                <a:ea typeface="Microsoft YaHei"/>
                <a:cs typeface="Microsoft YaHei"/>
              </a:rPr>
              <a:t>棱镜匠  3 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75FC53-6068-4566-A8E8-BC25F90A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33700"/>
            <a:ext cx="7858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找零件，1 AP：随机检索一张部署棱镜或部署护壳。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CB4C61-B33A-4F31-93C5-5372E2D0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43300"/>
            <a:ext cx="7858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37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7D77"/>
                </a:solidFill>
                <a:latin typeface="Microsoft YaHei"/>
                <a:ea typeface="Microsoft YaHei"/>
                <a:cs typeface="Microsoft YaHei"/>
              </a:rPr>
              <a:t>织械师  2 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16C01D-31CE-42E0-BF4C-1878ADCA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010025"/>
            <a:ext cx="7858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翻修，1 AP：回收一张部署棱镜或部署护壳。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196A68-7888-49F3-B716-BFEE5EBCD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81575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37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7D77"/>
                </a:solidFill>
                <a:latin typeface="Microsoft YaHei"/>
                <a:ea typeface="Microsoft YaHei"/>
                <a:cs typeface="Microsoft YaHei"/>
              </a:rPr>
              <a:t>终端：黎明炮架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76D296-961C-4285-9D2E-5BA5CFA7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95925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匠花1 AP，消耗距离2内三件构件，至少各含1棱镜、1护壳。</a:t>
            </a:r>
          </a:p>
          <a:p xmlns:a="http://schemas.openxmlformats.org/drawingml/2006/main">
            <a:pPr algn="l">
              <a:defRPr sz="1800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此后每回合一次，花1 AP和1棱镜，对射程3内可见敌人造成4伤。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990547-989B-44BF-8FCA-BB1B694B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81725"/>
            <a:ext cx="10763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另一形态：移动工事。花1 AP和1护壳，使距离2内己方单位各获3护盾。</a:t>
            </a:r>
          </a:p>
        </p:txBody>
      </p:sp>
    </p:spTree>
    <p:extLst>
      <p:ext uri="{BB962C8B-B14F-4D97-AF65-F5344CB8AC3E}">
        <p14:creationId xmlns:p14="http://schemas.microsoft.com/office/powerpoint/2010/main" val="18142267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329CC5-C266-462F-90C7-B2FB95D1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10839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遗迹工坊：构件既是材料，也是后续供给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84E8E3-DA27-437E-BB32-FCA93188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28650" y="1476375"/>
          <a:ext xmlns:a="http://schemas.openxmlformats.org/drawingml/2006/main" cx="10934700" cy="4629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09800"/>
                <a:gridCol w="838200"/>
                <a:gridCol w="7886700"/>
              </a:tblGrid>
              <a:tr h="514350"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卡牌</a:t>
                      </a:r>
                    </a:p>
                  </a:txBody>
                  <a:tcPr marL="91440" marR="91440" marT="45720" marB="45720" anchor="ctr">
                    <a:solidFill>
                      <a:srgbClr val="163C3B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AP</a:t>
                      </a:r>
                    </a:p>
                  </a:txBody>
                  <a:tcPr marL="91440" marR="91440" marT="45720" marB="45720" anchor="ctr">
                    <a:solidFill>
                      <a:srgbClr val="163C3B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效果</a:t>
                      </a:r>
                    </a:p>
                  </a:txBody>
                  <a:tcPr marL="91440" marR="91440" marT="45720" marB="45720" anchor="ctr">
                    <a:solidFill>
                      <a:srgbClr val="163C3B"/>
                    </a:solidFill>
                  </a:tcPr>
                </a:tc>
              </a:tr>
              <a:tr h="514350"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部署棱镜 ×3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部署1棱镜，抽1张。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部署护壳 ×3</a:t>
                      </a:r>
                    </a:p>
                  </a:txBody>
                  <a:tcPr marL="91440" marR="91440" marT="45720" marB="45720" anchor="ctr">
                    <a:solidFill>
                      <a:srgbClr val="EAF0E5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AF0E5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部署1护壳，自己获1护盾。</a:t>
                      </a:r>
                    </a:p>
                  </a:txBody>
                  <a:tcPr marL="91440" marR="91440" marT="45720" marB="45720" anchor="ctr">
                    <a:solidFill>
                      <a:srgbClr val="EAF0E5"/>
                    </a:solidFill>
                  </a:tcPr>
                </a:tc>
              </a:tr>
              <a:tr h="514350"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拆解取样 ×2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拆掉距离2内1构件，抽1张。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定向加工 ×2</a:t>
                      </a:r>
                    </a:p>
                  </a:txBody>
                  <a:tcPr marL="91440" marR="91440" marT="45720" marB="45720" anchor="ctr">
                    <a:solidFill>
                      <a:srgbClr val="EAF0E5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AF0E5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弃1张其他手牌，部署自选的棱镜或护壳。</a:t>
                      </a:r>
                    </a:p>
                  </a:txBody>
                  <a:tcPr marL="91440" marR="91440" marT="45720" marB="45720" anchor="ctr">
                    <a:solidFill>
                      <a:srgbClr val="EAF0E5"/>
                    </a:solidFill>
                  </a:tcPr>
                </a:tc>
              </a:tr>
              <a:tr h="514350"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挪移工序 ×2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将距离2内1构件移到距原格最多2格的新位置，抽1张。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零件补给 ×2</a:t>
                      </a:r>
                    </a:p>
                  </a:txBody>
                  <a:tcPr marL="91440" marR="91440" marT="45720" marB="45720" anchor="ctr">
                    <a:solidFill>
                      <a:srgbClr val="EAF0E5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AF0E5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看顶4张，最多选2张构件牌入手。</a:t>
                      </a:r>
                    </a:p>
                  </a:txBody>
                  <a:tcPr marL="91440" marR="91440" marT="45720" marB="45720" anchor="ctr">
                    <a:solidFill>
                      <a:srgbClr val="EAF0E5"/>
                    </a:solidFill>
                  </a:tcPr>
                </a:tc>
              </a:tr>
              <a:tr h="514350"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稳步推进 ×2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移动1–2格，自己获1护盾。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掩护 ×2</a:t>
                      </a:r>
                    </a:p>
                  </a:txBody>
                  <a:tcPr marL="91440" marR="91440" marT="45720" marB="45720" anchor="ctr">
                    <a:solidFill>
                      <a:srgbClr val="EAF0E5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AF0E5"/>
                    </a:solidFill>
                  </a:tcPr>
                </a:tc>
                <a:tc>
                  <a:txBody>
                    <a:bodyPr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C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自己获2护盾。</a:t>
                      </a:r>
                    </a:p>
                  </a:txBody>
                  <a:tcPr marL="91440" marR="91440" marT="45720" marB="45720" anchor="ctr">
                    <a:solidFill>
                      <a:srgbClr val="EAF0E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3DB8BA-539E-47FC-BA76-7D030D0EC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674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构件最多3件，不阻挡走路；敌人移动结束时踩到构件，会摧毁它。</a:t>
            </a:r>
          </a:p>
        </p:txBody>
      </p:sp>
    </p:spTree>
    <p:extLst>
      <p:ext uri="{BB962C8B-B14F-4D97-AF65-F5344CB8AC3E}">
        <p14:creationId xmlns:p14="http://schemas.microsoft.com/office/powerpoint/2010/main" val="2789465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17EE421-E22E-4301-BA6F-15453A12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10839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工坊 combo：先拼机器，再补弹开火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BBC0B9-8084-4AA3-8D1F-28171808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88CE40-D90D-49C0-981B-7812C9719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9347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队伍位置：护卫D5、匠E6、织械师C6；部署格可见且没有障碍。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7AEF0F-6579-4BC7-AFDE-D16003F68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7D7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A0624A-EEBF-4D48-AD74-6927CAD23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4B4EEC-5311-4620-ABF5-4839B6309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4310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7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37D77"/>
                </a:solidFill>
                <a:latin typeface="Microsoft YaHei"/>
                <a:ea typeface="Microsoft YaHei"/>
                <a:cs typeface="Microsoft YaHei"/>
              </a:rPr>
              <a:t>搬运护卫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47FDBE-A5DD-4EFE-826D-7FC8AB49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943100"/>
            <a:ext cx="7696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部署棱镜到D6，抽1张。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80D367-AE73-4D1A-A489-516926095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1943100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1 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055EF6-E6AD-488B-AF29-CDB2DA145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7D7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EF6C67-F6D0-4B04-A2B9-4C124CA6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715040-5596-426B-98E8-3685609B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669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7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37D77"/>
                </a:solidFill>
                <a:latin typeface="Microsoft YaHei"/>
                <a:ea typeface="Microsoft YaHei"/>
                <a:cs typeface="Microsoft YaHei"/>
              </a:rPr>
              <a:t>织械师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470C00-836F-4BC6-A06E-C2413596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466975"/>
            <a:ext cx="7696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部署护壳到D7。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9966BD-E0B4-451B-A8C4-814CEE50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466975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1 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67FAAA-3B3D-4015-8C09-A2A0B3001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7D7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34BA97-7026-4DE7-AB9A-1211D5C52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88499F-E356-4739-86DD-27DA1A9E1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9085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7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37D77"/>
                </a:solidFill>
                <a:latin typeface="Microsoft YaHei"/>
                <a:ea typeface="Microsoft YaHei"/>
                <a:cs typeface="Microsoft YaHei"/>
              </a:rPr>
              <a:t>棱镜匠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57C415-F007-43D4-B89C-3B95366A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990850"/>
            <a:ext cx="7696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定向加工：弃1张其他牌，在E5部署护壳。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254928-AF68-48DA-86F7-CA554F65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990850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1 AP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645F2E-8301-4981-ACB9-0FDF1508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52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7D7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64C7E5-FA28-42EB-BB59-0AF887E0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528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3EF4EF-02AC-4486-82AE-A247E099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147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7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37D77"/>
                </a:solidFill>
                <a:latin typeface="Microsoft YaHei"/>
                <a:ea typeface="Microsoft YaHei"/>
                <a:cs typeface="Microsoft YaHei"/>
              </a:rPr>
              <a:t>棱镜匠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D0BA39-9428-4ADD-B4F3-8A343CC6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514725"/>
            <a:ext cx="7696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消耗三件材料，形成黎明炮架。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22E519-F43F-42CB-B71A-9919BBF4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514725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1 AP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D55CC5-8F4B-48F1-A4AD-BD6904E4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7D77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B24CD9-1827-4A98-835C-D756AFD3B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5F5189-5ACC-484E-9BC2-3850BAA2A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3860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7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37D77"/>
                </a:solidFill>
                <a:latin typeface="Microsoft YaHei"/>
                <a:ea typeface="Microsoft YaHei"/>
                <a:cs typeface="Microsoft YaHei"/>
              </a:rPr>
              <a:t>搬运护卫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2CF52A-4AA8-4AE6-ABA8-093536F0F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038600"/>
            <a:ext cx="7696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再部署棱镜到D6，为炮架补一发弹药。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C19B1A-7B21-4ED0-85A2-E757AD7C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38600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1 AP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C11607-1EFA-46D8-BCB0-5F8E0206A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005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7D77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ADAF41-99A5-4A06-83D5-028C9B25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005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83A6BA-1FE1-4200-BC3A-B1E715EE9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624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7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37D77"/>
                </a:solidFill>
                <a:latin typeface="Microsoft YaHei"/>
                <a:ea typeface="Microsoft YaHei"/>
                <a:cs typeface="Microsoft YaHei"/>
              </a:rPr>
              <a:t>棱镜匠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03B6D5-CB33-4B85-9A21-0EC5691B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562475"/>
            <a:ext cx="7696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3C3B"/>
                </a:solidFill>
                <a:latin typeface="Microsoft YaHei"/>
                <a:ea typeface="Microsoft YaHei"/>
                <a:cs typeface="Microsoft YaHei"/>
              </a:rPr>
              <a:t>炮击：消耗新棱镜，对可见目标造成4伤。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8845BB-D77E-44DE-B369-31065A726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562475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1 AP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148A8D-D586-40EF-8DA5-56722A8D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38825"/>
            <a:ext cx="1093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37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7D77"/>
                </a:solidFill>
                <a:latin typeface="Microsoft YaHei"/>
                <a:ea typeface="Microsoft YaHei"/>
                <a:cs typeface="Microsoft YaHei"/>
              </a:rPr>
              <a:t>6 AP，打出4张牌，完成合成和第一炮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FB9092-5A30-4853-8D9B-872340DF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736A"/>
                </a:solidFill>
                <a:latin typeface="Microsoft YaHei"/>
                <a:ea typeface="Microsoft YaHei"/>
                <a:cs typeface="Microsoft YaHei"/>
              </a:rPr>
              <a:t>建成后需持续供弹。若匠已用过找零件，本回合不能再炮击。</a:t>
            </a:r>
          </a:p>
        </p:txBody>
      </p:sp>
    </p:spTree>
    <p:extLst>
      <p:ext uri="{BB962C8B-B14F-4D97-AF65-F5344CB8AC3E}">
        <p14:creationId xmlns:p14="http://schemas.microsoft.com/office/powerpoint/2010/main" val="17981343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2026-10-04T02:52:09.0490000Z</dcterms:created>
  <dcterms:modified xsi:type="dcterms:W3CDTF">2026-10-04T02:52:09.0490000Z</dcterms:modified>
</coreProperties>
</file>