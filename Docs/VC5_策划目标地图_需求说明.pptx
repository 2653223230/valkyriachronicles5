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8FAFC"/>
                </a:solidFill>
                <a:latin typeface="Microsoft YaHei"/>
              </a:rPr>
              <a:t>战场女武神5 — 策划目标地图需求说明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4748B"/>
                </a:solidFill>
                <a:latin typeface="Microsoft YaHei"/>
              </a:rPr>
              <a:t>供 AI / 程序读取 · 描述游戏地图与得分机制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657600"/>
            <a:ext cx="69494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8FAFC"/>
                </a:solidFill>
                <a:latin typeface="Microsoft YaHei"/>
              </a:rPr>
              <a:t>规格来源：战场女武神5最新规则与卡牌-20260621.md</a:t>
            </a:r>
          </a:p>
          <a:p>
            <a:r>
              <a:rPr sz="1200" b="0">
                <a:solidFill>
                  <a:srgbClr val="F8FAFC"/>
                </a:solidFill>
                <a:latin typeface="Microsoft YaHei"/>
              </a:rPr>
              <a:t>生成日期：2026-06-21</a:t>
            </a:r>
          </a:p>
          <a:p>
            <a:r>
              <a:rPr sz="1200" b="0">
                <a:solidFill>
                  <a:srgbClr val="F8FAFC"/>
                </a:solidFill>
                <a:latin typeface="Microsoft YaHei"/>
              </a:rPr>
              <a:t>棋盘验证：Unity Game.unity · 34 个 BoardSlot（与规格一致）</a:t>
            </a:r>
          </a:p>
          <a:p>
            <a:r>
              <a:rPr sz="1200" b="0">
                <a:solidFill>
                  <a:srgbClr val="F8FAFC"/>
                </a:solidFill>
                <a:latin typeface="Microsoft YaHei"/>
              </a:rPr>
              <a:t>坐标系：逻辑 (x,y,p)；y 越大越靠近己方底边；p 为玩家侧 0/1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icrosoft YaHei"/>
              </a:rPr>
              <a:t>1. 设计意图（策划目标）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</a:rPr>
              <a:t>本节为策划权威描述；程序实现以本节为准，见末页「实现差异」。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  <a:latin typeface="Microsoft YaHei"/>
              </a:rPr>
              <a:t>竖向六边形战棋盘，共 34 个可行走格子；5 条纵向列（6/7/8/7/6），整体呈上下较长、左右较窄的纺锤形。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  <a:latin typeface="Microsoft YaHei"/>
              </a:rPr>
              <a:t>己方位于下方短边、对方位于上方短边；推进方向为自下向上，而非左右长边。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  <a:latin typeface="Microsoft YaHei"/>
              </a:rPr>
              <a:t>上下短边各有一处三角出生区（各 3 格）：己方 (3,2)(2,3)(2,4)，对方逻辑同坐标、客户端镜像显示。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  <a:latin typeface="Microsoft YaHei"/>
              </a:rPr>
              <a:t>正中央有一处连续得分区（7 格），呈菱形团块，是每回合得分阶段争夺的核心区域。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  <a:latin typeface="Microsoft YaHei"/>
              </a:rPr>
              <a:t>左右最外列为侧翼通道，用于绕边、包夹或回避正面冲突（demo 阶段无固有地形效果）。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  <a:latin typeface="Microsoft YaHei"/>
              </a:rPr>
              <a:t>设计目标：对局围绕「从出生点推进 → 占据中央得分区 → 防止对方占区得分」展开；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  <a:latin typeface="Microsoft YaHei"/>
              </a:rPr>
              <a:t>走位与相对位置成为与打牌同等重要的决策维度。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Microsoft YaHei"/>
              </a:rPr>
              <a:t>2. 棋盘规格与坐标约定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60120"/>
          <a:ext cx="822960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011680"/>
                <a:gridCol w="4754880"/>
              </a:tblGrid>
              <a:tr h="320039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Microsoft YaHei"/>
                        </a:rPr>
                        <a:t>项目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Microsoft YaHei"/>
                        </a:rPr>
                        <a:t>规格值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Microsoft YaHei"/>
                        </a:rPr>
                        <a:t>说明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格子总数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与 Unity 场景 Game.unity 中 BoardSlot 数量一致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网格类型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六边形（尖顶朝向）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场景内 BoardSlot 碰撞体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逻辑坐标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(x, y, 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p 为玩家侧（0 或 1）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几何中心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(5, 3)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棋盘世界坐标原点附近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六边形距离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max(|dx|, |dy|, |dz|)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dz = (x1+y1) - (x2+y2)；用于移动力与攻击范围计算</a:t>
                      </a:r>
                    </a:p>
                  </a:txBody>
                  <a:tcPr/>
                </a:tc>
              </a:tr>
              <a:tr h="320045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y 轴方向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y↑ = 己方底边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y 越小越靠近对方方向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Microsoft YaHei"/>
              </a:rPr>
              <a:t>3. 策划目标地图 — 全图（34 格）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</a:rPr>
              <a:t>每格标注逻辑坐标 (x,y)；颜色区分区域类型。与 Slot.cs / Game.unity 坐标一致。</a:t>
            </a:r>
          </a:p>
        </p:txBody>
      </p:sp>
      <p:sp>
        <p:nvSpPr>
          <p:cNvPr id="4" name="Hexagon 3"/>
          <p:cNvSpPr/>
          <p:nvPr/>
        </p:nvSpPr>
        <p:spPr>
          <a:xfrm rot="5400000">
            <a:off x="3422599" y="4409971"/>
            <a:ext cx="475488" cy="513527"/>
          </a:xfrm>
          <a:prstGeom prst="hexagon">
            <a:avLst/>
          </a:prstGeom>
          <a:solidFill>
            <a:srgbClr val="E2E8F0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F172A"/>
                </a:solidFill>
                <a:latin typeface="Microsoft YaHei"/>
              </a:rPr>
              <a:t>(3,1)</a:t>
            </a:r>
          </a:p>
        </p:txBody>
      </p:sp>
      <p:sp>
        <p:nvSpPr>
          <p:cNvPr id="5" name="Hexagon 4"/>
          <p:cNvSpPr/>
          <p:nvPr/>
        </p:nvSpPr>
        <p:spPr>
          <a:xfrm rot="5400000">
            <a:off x="3422599" y="3936433"/>
            <a:ext cx="475488" cy="513527"/>
          </a:xfrm>
          <a:prstGeom prst="hexagon">
            <a:avLst/>
          </a:prstGeom>
          <a:solidFill>
            <a:srgbClr val="E2E8F0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F172A"/>
                </a:solidFill>
                <a:latin typeface="Microsoft YaHei"/>
              </a:rPr>
              <a:t>(4,1)</a:t>
            </a:r>
          </a:p>
        </p:txBody>
      </p:sp>
      <p:sp>
        <p:nvSpPr>
          <p:cNvPr id="6" name="Hexagon 5"/>
          <p:cNvSpPr/>
          <p:nvPr/>
        </p:nvSpPr>
        <p:spPr>
          <a:xfrm rot="5400000">
            <a:off x="3422599" y="3462894"/>
            <a:ext cx="475488" cy="513527"/>
          </a:xfrm>
          <a:prstGeom prst="hexagon">
            <a:avLst/>
          </a:prstGeom>
          <a:solidFill>
            <a:srgbClr val="E2E8F0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F172A"/>
                </a:solidFill>
                <a:latin typeface="Microsoft YaHei"/>
              </a:rPr>
              <a:t>(5,1)</a:t>
            </a:r>
          </a:p>
        </p:txBody>
      </p:sp>
      <p:sp>
        <p:nvSpPr>
          <p:cNvPr id="7" name="Hexagon 6"/>
          <p:cNvSpPr/>
          <p:nvPr/>
        </p:nvSpPr>
        <p:spPr>
          <a:xfrm rot="5400000">
            <a:off x="3422599" y="2989356"/>
            <a:ext cx="475488" cy="513527"/>
          </a:xfrm>
          <a:prstGeom prst="hexagon">
            <a:avLst/>
          </a:prstGeom>
          <a:solidFill>
            <a:srgbClr val="E2E8F0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F172A"/>
                </a:solidFill>
                <a:latin typeface="Microsoft YaHei"/>
              </a:rPr>
              <a:t>(6,1)</a:t>
            </a:r>
          </a:p>
        </p:txBody>
      </p:sp>
      <p:sp>
        <p:nvSpPr>
          <p:cNvPr id="8" name="Hexagon 7"/>
          <p:cNvSpPr/>
          <p:nvPr/>
        </p:nvSpPr>
        <p:spPr>
          <a:xfrm rot="5400000">
            <a:off x="3422599" y="2515818"/>
            <a:ext cx="475488" cy="513527"/>
          </a:xfrm>
          <a:prstGeom prst="hexagon">
            <a:avLst/>
          </a:prstGeom>
          <a:solidFill>
            <a:srgbClr val="E2E8F0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F172A"/>
                </a:solidFill>
                <a:latin typeface="Microsoft YaHei"/>
              </a:rPr>
              <a:t>(7,1)</a:t>
            </a:r>
          </a:p>
        </p:txBody>
      </p:sp>
      <p:sp>
        <p:nvSpPr>
          <p:cNvPr id="9" name="Hexagon 8"/>
          <p:cNvSpPr/>
          <p:nvPr/>
        </p:nvSpPr>
        <p:spPr>
          <a:xfrm rot="5400000">
            <a:off x="3422599" y="2042279"/>
            <a:ext cx="475488" cy="513527"/>
          </a:xfrm>
          <a:prstGeom prst="hexagon">
            <a:avLst/>
          </a:prstGeom>
          <a:solidFill>
            <a:srgbClr val="E2E8F0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F172A"/>
                </a:solidFill>
                <a:latin typeface="Microsoft YaHei"/>
              </a:rPr>
              <a:t>(8,1)</a:t>
            </a:r>
          </a:p>
        </p:txBody>
      </p:sp>
      <p:sp>
        <p:nvSpPr>
          <p:cNvPr id="10" name="Hexagon 9"/>
          <p:cNvSpPr/>
          <p:nvPr/>
        </p:nvSpPr>
        <p:spPr>
          <a:xfrm rot="5400000">
            <a:off x="3422599" y="1568741"/>
            <a:ext cx="475488" cy="513527"/>
          </a:xfrm>
          <a:prstGeom prst="hexagon">
            <a:avLst/>
          </a:prstGeom>
          <a:solidFill>
            <a:srgbClr val="E2E8F0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F172A"/>
                </a:solidFill>
                <a:latin typeface="Microsoft YaHei"/>
              </a:rPr>
              <a:t>(9,1)</a:t>
            </a:r>
          </a:p>
        </p:txBody>
      </p:sp>
      <p:sp>
        <p:nvSpPr>
          <p:cNvPr id="11" name="Hexagon 10"/>
          <p:cNvSpPr/>
          <p:nvPr/>
        </p:nvSpPr>
        <p:spPr>
          <a:xfrm rot="5400000">
            <a:off x="3832707" y="4173202"/>
            <a:ext cx="475488" cy="513527"/>
          </a:xfrm>
          <a:prstGeom prst="hexagon">
            <a:avLst/>
          </a:prstGeom>
          <a:solidFill>
            <a:srgbClr val="2563EB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(3,2)</a:t>
            </a:r>
          </a:p>
          <a:p>
            <a:pPr algn="ctr"/>
            <a:r>
              <a:rPr sz="700" b="0">
                <a:solidFill>
                  <a:srgbClr val="FFFFFF"/>
                </a:solidFill>
                <a:latin typeface="Microsoft YaHei"/>
              </a:rPr>
              <a:t>己方</a:t>
            </a:r>
          </a:p>
        </p:txBody>
      </p:sp>
      <p:sp>
        <p:nvSpPr>
          <p:cNvPr id="12" name="Hexagon 11"/>
          <p:cNvSpPr/>
          <p:nvPr/>
        </p:nvSpPr>
        <p:spPr>
          <a:xfrm rot="5400000">
            <a:off x="3832707" y="3699663"/>
            <a:ext cx="475488" cy="513527"/>
          </a:xfrm>
          <a:prstGeom prst="hexagon">
            <a:avLst/>
          </a:prstGeom>
          <a:solidFill>
            <a:srgbClr val="E2E8F0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F172A"/>
                </a:solidFill>
                <a:latin typeface="Microsoft YaHei"/>
              </a:rPr>
              <a:t>(4,2)</a:t>
            </a:r>
          </a:p>
        </p:txBody>
      </p:sp>
      <p:sp>
        <p:nvSpPr>
          <p:cNvPr id="13" name="Hexagon 12"/>
          <p:cNvSpPr/>
          <p:nvPr/>
        </p:nvSpPr>
        <p:spPr>
          <a:xfrm rot="5400000">
            <a:off x="3832707" y="3226125"/>
            <a:ext cx="475488" cy="513527"/>
          </a:xfrm>
          <a:prstGeom prst="hexagon">
            <a:avLst/>
          </a:prstGeom>
          <a:solidFill>
            <a:srgbClr val="1F2937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(5,2)</a:t>
            </a:r>
          </a:p>
          <a:p>
            <a:pPr algn="ctr"/>
            <a:r>
              <a:rPr sz="700" b="0">
                <a:solidFill>
                  <a:srgbClr val="FFFFFF"/>
                </a:solidFill>
                <a:latin typeface="Microsoft YaHei"/>
              </a:rPr>
              <a:t>得分</a:t>
            </a:r>
          </a:p>
        </p:txBody>
      </p:sp>
      <p:sp>
        <p:nvSpPr>
          <p:cNvPr id="14" name="Hexagon 13"/>
          <p:cNvSpPr/>
          <p:nvPr/>
        </p:nvSpPr>
        <p:spPr>
          <a:xfrm rot="5400000">
            <a:off x="3832707" y="2752587"/>
            <a:ext cx="475488" cy="513527"/>
          </a:xfrm>
          <a:prstGeom prst="hexagon">
            <a:avLst/>
          </a:prstGeom>
          <a:solidFill>
            <a:srgbClr val="1F2937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(6,2)</a:t>
            </a:r>
          </a:p>
          <a:p>
            <a:pPr algn="ctr"/>
            <a:r>
              <a:rPr sz="700" b="0">
                <a:solidFill>
                  <a:srgbClr val="FFFFFF"/>
                </a:solidFill>
                <a:latin typeface="Microsoft YaHei"/>
              </a:rPr>
              <a:t>得分</a:t>
            </a:r>
          </a:p>
        </p:txBody>
      </p:sp>
      <p:sp>
        <p:nvSpPr>
          <p:cNvPr id="15" name="Hexagon 14"/>
          <p:cNvSpPr/>
          <p:nvPr/>
        </p:nvSpPr>
        <p:spPr>
          <a:xfrm rot="5400000">
            <a:off x="3832707" y="2279049"/>
            <a:ext cx="475488" cy="513527"/>
          </a:xfrm>
          <a:prstGeom prst="hexagon">
            <a:avLst/>
          </a:prstGeom>
          <a:solidFill>
            <a:srgbClr val="E2E8F0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F172A"/>
                </a:solidFill>
                <a:latin typeface="Microsoft YaHei"/>
              </a:rPr>
              <a:t>(7,2)</a:t>
            </a:r>
          </a:p>
        </p:txBody>
      </p:sp>
      <p:sp>
        <p:nvSpPr>
          <p:cNvPr id="16" name="Hexagon 15"/>
          <p:cNvSpPr/>
          <p:nvPr/>
        </p:nvSpPr>
        <p:spPr>
          <a:xfrm rot="5400000">
            <a:off x="3832707" y="1805510"/>
            <a:ext cx="475488" cy="513527"/>
          </a:xfrm>
          <a:prstGeom prst="hexagon">
            <a:avLst/>
          </a:prstGeom>
          <a:solidFill>
            <a:srgbClr val="DC2626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(8,2)</a:t>
            </a:r>
          </a:p>
          <a:p>
            <a:pPr algn="ctr"/>
            <a:r>
              <a:rPr sz="700" b="0">
                <a:solidFill>
                  <a:srgbClr val="FFFFFF"/>
                </a:solidFill>
                <a:latin typeface="Microsoft YaHei"/>
              </a:rPr>
              <a:t>对方</a:t>
            </a:r>
          </a:p>
        </p:txBody>
      </p:sp>
      <p:sp>
        <p:nvSpPr>
          <p:cNvPr id="17" name="Hexagon 16"/>
          <p:cNvSpPr/>
          <p:nvPr/>
        </p:nvSpPr>
        <p:spPr>
          <a:xfrm rot="5400000">
            <a:off x="3832707" y="1331972"/>
            <a:ext cx="475488" cy="513527"/>
          </a:xfrm>
          <a:prstGeom prst="hexagon">
            <a:avLst/>
          </a:prstGeom>
          <a:solidFill>
            <a:srgbClr val="E2E8F0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F172A"/>
                </a:solidFill>
                <a:latin typeface="Microsoft YaHei"/>
              </a:rPr>
              <a:t>(9,2)</a:t>
            </a:r>
          </a:p>
        </p:txBody>
      </p:sp>
      <p:sp>
        <p:nvSpPr>
          <p:cNvPr id="18" name="Hexagon 17"/>
          <p:cNvSpPr/>
          <p:nvPr/>
        </p:nvSpPr>
        <p:spPr>
          <a:xfrm rot="5400000">
            <a:off x="4242816" y="4409971"/>
            <a:ext cx="475488" cy="513527"/>
          </a:xfrm>
          <a:prstGeom prst="hexagon">
            <a:avLst/>
          </a:prstGeom>
          <a:solidFill>
            <a:srgbClr val="2563EB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(2,3)</a:t>
            </a:r>
          </a:p>
          <a:p>
            <a:pPr algn="ctr"/>
            <a:r>
              <a:rPr sz="700" b="0">
                <a:solidFill>
                  <a:srgbClr val="FFFFFF"/>
                </a:solidFill>
                <a:latin typeface="Microsoft YaHei"/>
              </a:rPr>
              <a:t>己方</a:t>
            </a:r>
          </a:p>
        </p:txBody>
      </p:sp>
      <p:sp>
        <p:nvSpPr>
          <p:cNvPr id="19" name="Hexagon 18"/>
          <p:cNvSpPr/>
          <p:nvPr/>
        </p:nvSpPr>
        <p:spPr>
          <a:xfrm rot="5400000">
            <a:off x="4242816" y="3936433"/>
            <a:ext cx="475488" cy="513527"/>
          </a:xfrm>
          <a:prstGeom prst="hexagon">
            <a:avLst/>
          </a:prstGeom>
          <a:solidFill>
            <a:srgbClr val="E2E8F0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F172A"/>
                </a:solidFill>
                <a:latin typeface="Microsoft YaHei"/>
              </a:rPr>
              <a:t>(3,3)</a:t>
            </a:r>
          </a:p>
        </p:txBody>
      </p:sp>
      <p:sp>
        <p:nvSpPr>
          <p:cNvPr id="20" name="Hexagon 19"/>
          <p:cNvSpPr/>
          <p:nvPr/>
        </p:nvSpPr>
        <p:spPr>
          <a:xfrm rot="5400000">
            <a:off x="4242816" y="3462894"/>
            <a:ext cx="475488" cy="513527"/>
          </a:xfrm>
          <a:prstGeom prst="hexagon">
            <a:avLst/>
          </a:prstGeom>
          <a:solidFill>
            <a:srgbClr val="1F2937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(4,3)</a:t>
            </a:r>
          </a:p>
          <a:p>
            <a:pPr algn="ctr"/>
            <a:r>
              <a:rPr sz="700" b="0">
                <a:solidFill>
                  <a:srgbClr val="FFFFFF"/>
                </a:solidFill>
                <a:latin typeface="Microsoft YaHei"/>
              </a:rPr>
              <a:t>得分</a:t>
            </a:r>
          </a:p>
        </p:txBody>
      </p:sp>
      <p:sp>
        <p:nvSpPr>
          <p:cNvPr id="21" name="Hexagon 20"/>
          <p:cNvSpPr/>
          <p:nvPr/>
        </p:nvSpPr>
        <p:spPr>
          <a:xfrm rot="5400000">
            <a:off x="4242816" y="2989356"/>
            <a:ext cx="475488" cy="513527"/>
          </a:xfrm>
          <a:prstGeom prst="hexagon">
            <a:avLst/>
          </a:prstGeom>
          <a:solidFill>
            <a:srgbClr val="1F2937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(5,3)</a:t>
            </a:r>
          </a:p>
          <a:p>
            <a:pPr algn="ctr"/>
            <a:r>
              <a:rPr sz="700" b="0">
                <a:solidFill>
                  <a:srgbClr val="FFFFFF"/>
                </a:solidFill>
                <a:latin typeface="Microsoft YaHei"/>
              </a:rPr>
              <a:t>得分</a:t>
            </a:r>
          </a:p>
        </p:txBody>
      </p:sp>
      <p:sp>
        <p:nvSpPr>
          <p:cNvPr id="22" name="Hexagon 21"/>
          <p:cNvSpPr/>
          <p:nvPr/>
        </p:nvSpPr>
        <p:spPr>
          <a:xfrm rot="5400000">
            <a:off x="4242816" y="2515818"/>
            <a:ext cx="475488" cy="513527"/>
          </a:xfrm>
          <a:prstGeom prst="hexagon">
            <a:avLst/>
          </a:prstGeom>
          <a:solidFill>
            <a:srgbClr val="1F2937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(6,3)</a:t>
            </a:r>
          </a:p>
          <a:p>
            <a:pPr algn="ctr"/>
            <a:r>
              <a:rPr sz="700" b="0">
                <a:solidFill>
                  <a:srgbClr val="FFFFFF"/>
                </a:solidFill>
                <a:latin typeface="Microsoft YaHei"/>
              </a:rPr>
              <a:t>得分</a:t>
            </a:r>
          </a:p>
        </p:txBody>
      </p:sp>
      <p:sp>
        <p:nvSpPr>
          <p:cNvPr id="23" name="Hexagon 22"/>
          <p:cNvSpPr/>
          <p:nvPr/>
        </p:nvSpPr>
        <p:spPr>
          <a:xfrm rot="5400000">
            <a:off x="4242816" y="2042279"/>
            <a:ext cx="475488" cy="513527"/>
          </a:xfrm>
          <a:prstGeom prst="hexagon">
            <a:avLst/>
          </a:prstGeom>
          <a:solidFill>
            <a:srgbClr val="E2E8F0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F172A"/>
                </a:solidFill>
                <a:latin typeface="Microsoft YaHei"/>
              </a:rPr>
              <a:t>(7,3)</a:t>
            </a:r>
          </a:p>
        </p:txBody>
      </p:sp>
      <p:sp>
        <p:nvSpPr>
          <p:cNvPr id="24" name="Hexagon 23"/>
          <p:cNvSpPr/>
          <p:nvPr/>
        </p:nvSpPr>
        <p:spPr>
          <a:xfrm rot="5400000">
            <a:off x="4242816" y="1568741"/>
            <a:ext cx="475488" cy="513527"/>
          </a:xfrm>
          <a:prstGeom prst="hexagon">
            <a:avLst/>
          </a:prstGeom>
          <a:solidFill>
            <a:srgbClr val="DC2626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(8,3)</a:t>
            </a:r>
          </a:p>
          <a:p>
            <a:pPr algn="ctr"/>
            <a:r>
              <a:rPr sz="700" b="0">
                <a:solidFill>
                  <a:srgbClr val="FFFFFF"/>
                </a:solidFill>
                <a:latin typeface="Microsoft YaHei"/>
              </a:rPr>
              <a:t>对方</a:t>
            </a:r>
          </a:p>
        </p:txBody>
      </p:sp>
      <p:sp>
        <p:nvSpPr>
          <p:cNvPr id="25" name="Hexagon 24"/>
          <p:cNvSpPr/>
          <p:nvPr/>
        </p:nvSpPr>
        <p:spPr>
          <a:xfrm rot="5400000">
            <a:off x="4652924" y="4173202"/>
            <a:ext cx="475488" cy="513527"/>
          </a:xfrm>
          <a:prstGeom prst="hexagon">
            <a:avLst/>
          </a:prstGeom>
          <a:solidFill>
            <a:srgbClr val="2563EB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(2,4)</a:t>
            </a:r>
          </a:p>
          <a:p>
            <a:pPr algn="ctr"/>
            <a:r>
              <a:rPr sz="700" b="0">
                <a:solidFill>
                  <a:srgbClr val="FFFFFF"/>
                </a:solidFill>
                <a:latin typeface="Microsoft YaHei"/>
              </a:rPr>
              <a:t>己方</a:t>
            </a:r>
          </a:p>
        </p:txBody>
      </p:sp>
      <p:sp>
        <p:nvSpPr>
          <p:cNvPr id="26" name="Hexagon 25"/>
          <p:cNvSpPr/>
          <p:nvPr/>
        </p:nvSpPr>
        <p:spPr>
          <a:xfrm rot="5400000">
            <a:off x="4652924" y="3699663"/>
            <a:ext cx="475488" cy="513527"/>
          </a:xfrm>
          <a:prstGeom prst="hexagon">
            <a:avLst/>
          </a:prstGeom>
          <a:solidFill>
            <a:srgbClr val="E2E8F0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F172A"/>
                </a:solidFill>
                <a:latin typeface="Microsoft YaHei"/>
              </a:rPr>
              <a:t>(3,4)</a:t>
            </a:r>
          </a:p>
        </p:txBody>
      </p:sp>
      <p:sp>
        <p:nvSpPr>
          <p:cNvPr id="27" name="Hexagon 26"/>
          <p:cNvSpPr/>
          <p:nvPr/>
        </p:nvSpPr>
        <p:spPr>
          <a:xfrm rot="5400000">
            <a:off x="4652924" y="3226125"/>
            <a:ext cx="475488" cy="513527"/>
          </a:xfrm>
          <a:prstGeom prst="hexagon">
            <a:avLst/>
          </a:prstGeom>
          <a:solidFill>
            <a:srgbClr val="1F2937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(4,4)</a:t>
            </a:r>
          </a:p>
          <a:p>
            <a:pPr algn="ctr"/>
            <a:r>
              <a:rPr sz="700" b="0">
                <a:solidFill>
                  <a:srgbClr val="FFFFFF"/>
                </a:solidFill>
                <a:latin typeface="Microsoft YaHei"/>
              </a:rPr>
              <a:t>得分</a:t>
            </a:r>
          </a:p>
        </p:txBody>
      </p:sp>
      <p:sp>
        <p:nvSpPr>
          <p:cNvPr id="28" name="Hexagon 27"/>
          <p:cNvSpPr/>
          <p:nvPr/>
        </p:nvSpPr>
        <p:spPr>
          <a:xfrm rot="5400000">
            <a:off x="4652924" y="2752587"/>
            <a:ext cx="475488" cy="513527"/>
          </a:xfrm>
          <a:prstGeom prst="hexagon">
            <a:avLst/>
          </a:prstGeom>
          <a:solidFill>
            <a:srgbClr val="1F2937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(5,4)</a:t>
            </a:r>
          </a:p>
          <a:p>
            <a:pPr algn="ctr"/>
            <a:r>
              <a:rPr sz="700" b="0">
                <a:solidFill>
                  <a:srgbClr val="FFFFFF"/>
                </a:solidFill>
                <a:latin typeface="Microsoft YaHei"/>
              </a:rPr>
              <a:t>得分</a:t>
            </a:r>
          </a:p>
        </p:txBody>
      </p:sp>
      <p:sp>
        <p:nvSpPr>
          <p:cNvPr id="29" name="Hexagon 28"/>
          <p:cNvSpPr/>
          <p:nvPr/>
        </p:nvSpPr>
        <p:spPr>
          <a:xfrm rot="5400000">
            <a:off x="4652924" y="2279049"/>
            <a:ext cx="475488" cy="513527"/>
          </a:xfrm>
          <a:prstGeom prst="hexagon">
            <a:avLst/>
          </a:prstGeom>
          <a:solidFill>
            <a:srgbClr val="E2E8F0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F172A"/>
                </a:solidFill>
                <a:latin typeface="Microsoft YaHei"/>
              </a:rPr>
              <a:t>(6,4)</a:t>
            </a:r>
          </a:p>
        </p:txBody>
      </p:sp>
      <p:sp>
        <p:nvSpPr>
          <p:cNvPr id="30" name="Hexagon 29"/>
          <p:cNvSpPr/>
          <p:nvPr/>
        </p:nvSpPr>
        <p:spPr>
          <a:xfrm rot="5400000">
            <a:off x="4652924" y="1805510"/>
            <a:ext cx="475488" cy="513527"/>
          </a:xfrm>
          <a:prstGeom prst="hexagon">
            <a:avLst/>
          </a:prstGeom>
          <a:solidFill>
            <a:srgbClr val="DC2626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(7,4)</a:t>
            </a:r>
          </a:p>
          <a:p>
            <a:pPr algn="ctr"/>
            <a:r>
              <a:rPr sz="700" b="0">
                <a:solidFill>
                  <a:srgbClr val="FFFFFF"/>
                </a:solidFill>
                <a:latin typeface="Microsoft YaHei"/>
              </a:rPr>
              <a:t>对方</a:t>
            </a:r>
          </a:p>
        </p:txBody>
      </p:sp>
      <p:sp>
        <p:nvSpPr>
          <p:cNvPr id="31" name="Hexagon 30"/>
          <p:cNvSpPr/>
          <p:nvPr/>
        </p:nvSpPr>
        <p:spPr>
          <a:xfrm rot="5400000">
            <a:off x="4652924" y="1331972"/>
            <a:ext cx="475488" cy="513527"/>
          </a:xfrm>
          <a:prstGeom prst="hexagon">
            <a:avLst/>
          </a:prstGeom>
          <a:solidFill>
            <a:srgbClr val="E2E8F0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F172A"/>
                </a:solidFill>
                <a:latin typeface="Microsoft YaHei"/>
              </a:rPr>
              <a:t>(8,4)</a:t>
            </a:r>
          </a:p>
        </p:txBody>
      </p:sp>
      <p:sp>
        <p:nvSpPr>
          <p:cNvPr id="32" name="Hexagon 31"/>
          <p:cNvSpPr/>
          <p:nvPr/>
        </p:nvSpPr>
        <p:spPr>
          <a:xfrm rot="5400000">
            <a:off x="5063032" y="3936433"/>
            <a:ext cx="475488" cy="513527"/>
          </a:xfrm>
          <a:prstGeom prst="hexagon">
            <a:avLst/>
          </a:prstGeom>
          <a:solidFill>
            <a:srgbClr val="E2E8F0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F172A"/>
                </a:solidFill>
                <a:latin typeface="Microsoft YaHei"/>
              </a:rPr>
              <a:t>(2,5)</a:t>
            </a:r>
          </a:p>
        </p:txBody>
      </p:sp>
      <p:sp>
        <p:nvSpPr>
          <p:cNvPr id="33" name="Hexagon 32"/>
          <p:cNvSpPr/>
          <p:nvPr/>
        </p:nvSpPr>
        <p:spPr>
          <a:xfrm rot="5400000">
            <a:off x="5063032" y="3462894"/>
            <a:ext cx="475488" cy="513527"/>
          </a:xfrm>
          <a:prstGeom prst="hexagon">
            <a:avLst/>
          </a:prstGeom>
          <a:solidFill>
            <a:srgbClr val="E2E8F0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F172A"/>
                </a:solidFill>
                <a:latin typeface="Microsoft YaHei"/>
              </a:rPr>
              <a:t>(3,5)</a:t>
            </a:r>
          </a:p>
        </p:txBody>
      </p:sp>
      <p:sp>
        <p:nvSpPr>
          <p:cNvPr id="34" name="Hexagon 33"/>
          <p:cNvSpPr/>
          <p:nvPr/>
        </p:nvSpPr>
        <p:spPr>
          <a:xfrm rot="5400000">
            <a:off x="5063032" y="2989356"/>
            <a:ext cx="475488" cy="513527"/>
          </a:xfrm>
          <a:prstGeom prst="hexagon">
            <a:avLst/>
          </a:prstGeom>
          <a:solidFill>
            <a:srgbClr val="E2E8F0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F172A"/>
                </a:solidFill>
                <a:latin typeface="Microsoft YaHei"/>
              </a:rPr>
              <a:t>(4,5)</a:t>
            </a:r>
          </a:p>
        </p:txBody>
      </p:sp>
      <p:sp>
        <p:nvSpPr>
          <p:cNvPr id="35" name="Hexagon 34"/>
          <p:cNvSpPr/>
          <p:nvPr/>
        </p:nvSpPr>
        <p:spPr>
          <a:xfrm rot="5400000">
            <a:off x="5063032" y="2515818"/>
            <a:ext cx="475488" cy="513527"/>
          </a:xfrm>
          <a:prstGeom prst="hexagon">
            <a:avLst/>
          </a:prstGeom>
          <a:solidFill>
            <a:srgbClr val="E2E8F0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F172A"/>
                </a:solidFill>
                <a:latin typeface="Microsoft YaHei"/>
              </a:rPr>
              <a:t>(5,5)</a:t>
            </a:r>
          </a:p>
        </p:txBody>
      </p:sp>
      <p:sp>
        <p:nvSpPr>
          <p:cNvPr id="36" name="Hexagon 35"/>
          <p:cNvSpPr/>
          <p:nvPr/>
        </p:nvSpPr>
        <p:spPr>
          <a:xfrm rot="5400000">
            <a:off x="5063032" y="2042279"/>
            <a:ext cx="475488" cy="513527"/>
          </a:xfrm>
          <a:prstGeom prst="hexagon">
            <a:avLst/>
          </a:prstGeom>
          <a:solidFill>
            <a:srgbClr val="E2E8F0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F172A"/>
                </a:solidFill>
                <a:latin typeface="Microsoft YaHei"/>
              </a:rPr>
              <a:t>(6,5)</a:t>
            </a:r>
          </a:p>
        </p:txBody>
      </p:sp>
      <p:sp>
        <p:nvSpPr>
          <p:cNvPr id="37" name="Hexagon 36"/>
          <p:cNvSpPr/>
          <p:nvPr/>
        </p:nvSpPr>
        <p:spPr>
          <a:xfrm rot="5400000">
            <a:off x="5063032" y="1568741"/>
            <a:ext cx="475488" cy="513527"/>
          </a:xfrm>
          <a:prstGeom prst="hexagon">
            <a:avLst/>
          </a:prstGeom>
          <a:solidFill>
            <a:srgbClr val="E2E8F0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F172A"/>
                </a:solidFill>
                <a:latin typeface="Microsoft YaHei"/>
              </a:rPr>
              <a:t>(7,5)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00600" y="313639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EA5E9"/>
                </a:solidFill>
                <a:latin typeface="Microsoft YaHei"/>
              </a:rPr>
              <a:t>几何中心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40480" y="868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DC2626"/>
                </a:solidFill>
                <a:latin typeface="Microsoft YaHei"/>
              </a:rPr>
              <a:t>↑ 对方方向（y 减小）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40480" y="5623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563EB"/>
                </a:solidFill>
                <a:latin typeface="Microsoft YaHei"/>
              </a:rPr>
              <a:t>↓ 己方方向（y 增大）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960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Microsoft YaHei"/>
              </a:rPr>
              <a:t>图例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" y="1252728"/>
            <a:ext cx="201168" cy="164592"/>
          </a:xfrm>
          <a:prstGeom prst="rect">
            <a:avLst/>
          </a:prstGeom>
          <a:solidFill>
            <a:srgbClr val="1F2937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7512" y="123444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Microsoft YaHei"/>
              </a:rPr>
              <a:t>得分区（7 格）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1480" y="1472184"/>
            <a:ext cx="201168" cy="164592"/>
          </a:xfrm>
          <a:prstGeom prst="rect">
            <a:avLst/>
          </a:prstGeom>
          <a:solidFill>
            <a:srgbClr val="2563EB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7512" y="1453896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Microsoft YaHei"/>
              </a:rPr>
              <a:t>己方出生点（3 格，下方短边三角区）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1480" y="1691640"/>
            <a:ext cx="201168" cy="164592"/>
          </a:xfrm>
          <a:prstGeom prst="rect">
            <a:avLst/>
          </a:prstGeom>
          <a:solidFill>
            <a:srgbClr val="DC2626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7512" y="1673352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Microsoft YaHei"/>
              </a:rPr>
              <a:t>对方出生点（3 格，上方短边 · 镜像显示）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" y="1911096"/>
            <a:ext cx="201168" cy="164592"/>
          </a:xfrm>
          <a:prstGeom prst="rect">
            <a:avLst/>
          </a:prstGeom>
          <a:solidFill>
            <a:srgbClr val="E2E8F0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7512" y="189280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Microsoft YaHei"/>
              </a:rPr>
              <a:t>普通 battlefield 格（24 格）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Microsoft YaHei"/>
              </a:rPr>
              <a:t>4. 逻辑坐标矩阵（34 格存在性）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5029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F172A"/>
                </a:solidFill>
                <a:latin typeface="Consolas"/>
              </a:rPr>
              <a:t>列→  2   3   4   5   6   7   8   9
y=1  .   O   O   O   O   O   O   O    ← 远端（对方出生带）
y=2  .   O   O   O   O   O   O   O
y=3  O   O   O   O   O   O   O   .    ★ (5,3) 几何中心
y=4  O   O   O   O   O   O   O   .
y=5  O   O   O   O   O   O   .   .    ← 近端（己方出生带）
O = 存在格子；. = 该 (x,y) 不存在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0" y="914400"/>
            <a:ext cx="3200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F172A"/>
                </a:solidFill>
                <a:latin typeface="Consolas"/>
              </a:rPr>
              <a:t>      2  3  4  5  6  7  8  9
y=1   .  .  .  .  .  .  .  .
y=2   B  .  .  S  S  .  .  T
y=3   B  .  S  S  S  .  .  T
y=4   B  .  .  S  .  T  .  .
y=5   .  .  .  .  .  .  .  .
T=对方出生  B=己方出生  S=得分区（7 格菱形）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</a:rPr>
              <a:t>全部 34 格 (x,y) 列表见下一页表格；世界坐标取自 Game.unity BoardSlot。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Microsoft YaHei"/>
              </a:rPr>
              <a:t>5. 全部格子枚举（34 格 · 逻辑坐标 + 区域类型 + Unity 世界坐标）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60120"/>
          <a:ext cx="5212080" cy="11201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1280160"/>
                <a:gridCol w="1463040"/>
                <a:gridCol w="2011680"/>
              </a:tblGrid>
              <a:tr h="3200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Microsoft YaHei"/>
                        </a:rPr>
                        <a:t>#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Microsoft YaHei"/>
                        </a:rPr>
                        <a:t>逻辑 (x,y)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Microsoft YaHei"/>
                        </a:rPr>
                        <a:t>区域类型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Microsoft YaHei"/>
                        </a:rPr>
                        <a:t>世界坐标 (lx, ly)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(3, 1)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普通格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(-1.5, -2.598)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(4, 1)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普通格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(-1.5, -1.7320001)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(5, 1)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普通格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(-1.5, -0.866)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(6, 1)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普通格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(-1.5, 0.0)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(7, 1)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普通格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(-1.5, 0.866)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(8, 1)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普通格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(-1.5, 1.7319999)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(9, 1)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普通格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(-1.5, 2.5979998)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(3, 2)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己方出生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(-0.75, -2.165)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(4, 2)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普通格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(-0.75, -1.299)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(5, 2)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得分区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(-0.75, -0.4329999)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(6, 2)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得分区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(-0.75, 0.4330001)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(7, 2)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普通格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(-0.75, 1.299)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(8, 2)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对方出生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(-0.75, 2.165)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(9, 2)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普通格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(-0.75, 3.031)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(2, 3)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己方出生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(0.0, -2.598)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(3, 3)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普通格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(0.0, -1.7320001)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(4, 3)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得分区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(0.0, -0.866)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(5, 3)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得分区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(0.0, 0.0)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(6, 3)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得分区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(0.0, 0.866)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(7, 3)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普通格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(0.0, 1.7319999)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(8, 3)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对方出生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(0.0, 2.5979998)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(2, 4)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己方出生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(0.75, -2.165)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(3, 4)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普通格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(0.75, -1.299)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(4, 4)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得分区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(0.75, -0.4329999)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(5, 4)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得分区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(0.75, 0.4330001)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(6, 4)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普通格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(0.75, 1.299)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(7, 4)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对方出生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(0.75, 2.165)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(8, 4)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普通格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(0.75, 3.031)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(2, 5)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普通格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(1.5, -1.7320001)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(3, 5)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普通格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(1.5, -0.866)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(4, 5)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普通格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(1.5, 0.0)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(5, 5)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普通格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(1.5, 0.866)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(6, 5)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普通格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(1.5, 1.7319999)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(7, 5)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普通格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(1.5, 2.5979998)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Microsoft YaHei"/>
              </a:rPr>
              <a:t>6. 出生点（每方 3 英雄 · 三角排布）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60120"/>
          <a:ext cx="694944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463040"/>
                <a:gridCol w="1645920"/>
                <a:gridCol w="2194560"/>
              </a:tblGrid>
              <a:tr h="320039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Microsoft YaHei"/>
                        </a:rPr>
                        <a:t>阵营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Microsoft YaHei"/>
                        </a:rPr>
                        <a:t>逻辑坐标 (x,y)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Microsoft YaHei"/>
                        </a:rPr>
                        <a:t>部署角色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Microsoft YaHei"/>
                        </a:rPr>
                        <a:t>备注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己方（下方短边三角区）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(3, 2)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三角区一格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逻辑坐标见规格文档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己方（下方短边三角区）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(2, 3)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三角区一格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己方（下方短边三角区）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(2, 4)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三角区一格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对方（上方短边 · 镜像）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(7, 4)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镜像显示格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与 (3,2) 中心对称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对方（上方短边 · 镜像）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(8, 3)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镜像显示格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与 (2,3) 中心对称</a:t>
                      </a:r>
                    </a:p>
                  </a:txBody>
                  <a:tcPr/>
                </a:tc>
              </a:tr>
              <a:tr h="320045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对方（上方短边 · 镜像）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(8, 2)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镜像显示格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与 (2,4) 中心对称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3035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</a:rPr>
              <a:t>己方三角出生区 (3,2)(2,3)(2,4) 至中央 (5,3) 的六边形距离约 2～3；移动力 3 的英雄可在数回合内推进至得分区争夺。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Microsoft YaHei"/>
              </a:rPr>
              <a:t>7. 得分区（中央 7 格 · zone_id: center）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60120"/>
          <a:ext cx="6858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1645920"/>
                <a:gridCol w="4754880"/>
              </a:tblGrid>
              <a:tr h="3200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Microsoft YaHei"/>
                        </a:rPr>
                        <a:t>#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Microsoft YaHei"/>
                        </a:rPr>
                        <a:t>逻辑坐标 (x,y)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Microsoft YaHei"/>
                        </a:rPr>
                        <a:t>位置说明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(5, 3)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正中心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(4, 3)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中心左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(6, 3)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中心右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(5, 2)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中心上（偏对方方向）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(5, 4)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中心下（偏己方方向）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(4, 4)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左下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(6, 2)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右上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Microsoft YaHei"/>
              </a:rPr>
              <a:t>7b. 得分区 + 出生点 相对位置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</a:rPr>
              <a:t>全图 34 格；深色 = 得分区，蓝 = 己方出生，红 = 对方出生。</a:t>
            </a:r>
          </a:p>
        </p:txBody>
      </p:sp>
      <p:sp>
        <p:nvSpPr>
          <p:cNvPr id="4" name="Hexagon 3"/>
          <p:cNvSpPr/>
          <p:nvPr/>
        </p:nvSpPr>
        <p:spPr>
          <a:xfrm rot="5400000">
            <a:off x="3544672" y="4275680"/>
            <a:ext cx="420624" cy="454273"/>
          </a:xfrm>
          <a:prstGeom prst="hexagon">
            <a:avLst/>
          </a:prstGeom>
          <a:solidFill>
            <a:srgbClr val="E2E8F0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F172A"/>
                </a:solidFill>
                <a:latin typeface="Microsoft YaHei"/>
              </a:rPr>
              <a:t>(3,1)</a:t>
            </a:r>
          </a:p>
        </p:txBody>
      </p:sp>
      <p:sp>
        <p:nvSpPr>
          <p:cNvPr id="5" name="Hexagon 4"/>
          <p:cNvSpPr/>
          <p:nvPr/>
        </p:nvSpPr>
        <p:spPr>
          <a:xfrm rot="5400000">
            <a:off x="3544672" y="3856781"/>
            <a:ext cx="420624" cy="454273"/>
          </a:xfrm>
          <a:prstGeom prst="hexagon">
            <a:avLst/>
          </a:prstGeom>
          <a:solidFill>
            <a:srgbClr val="E2E8F0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F172A"/>
                </a:solidFill>
                <a:latin typeface="Microsoft YaHei"/>
              </a:rPr>
              <a:t>(4,1)</a:t>
            </a:r>
          </a:p>
        </p:txBody>
      </p:sp>
      <p:sp>
        <p:nvSpPr>
          <p:cNvPr id="6" name="Hexagon 5"/>
          <p:cNvSpPr/>
          <p:nvPr/>
        </p:nvSpPr>
        <p:spPr>
          <a:xfrm rot="5400000">
            <a:off x="3544672" y="3437882"/>
            <a:ext cx="420624" cy="454273"/>
          </a:xfrm>
          <a:prstGeom prst="hexagon">
            <a:avLst/>
          </a:prstGeom>
          <a:solidFill>
            <a:srgbClr val="E2E8F0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F172A"/>
                </a:solidFill>
                <a:latin typeface="Microsoft YaHei"/>
              </a:rPr>
              <a:t>(5,1)</a:t>
            </a:r>
          </a:p>
        </p:txBody>
      </p:sp>
      <p:sp>
        <p:nvSpPr>
          <p:cNvPr id="7" name="Hexagon 6"/>
          <p:cNvSpPr/>
          <p:nvPr/>
        </p:nvSpPr>
        <p:spPr>
          <a:xfrm rot="5400000">
            <a:off x="3544672" y="3018983"/>
            <a:ext cx="420624" cy="454273"/>
          </a:xfrm>
          <a:prstGeom prst="hexagon">
            <a:avLst/>
          </a:prstGeom>
          <a:solidFill>
            <a:srgbClr val="E2E8F0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F172A"/>
                </a:solidFill>
                <a:latin typeface="Microsoft YaHei"/>
              </a:rPr>
              <a:t>(6,1)</a:t>
            </a:r>
          </a:p>
        </p:txBody>
      </p:sp>
      <p:sp>
        <p:nvSpPr>
          <p:cNvPr id="8" name="Hexagon 7"/>
          <p:cNvSpPr/>
          <p:nvPr/>
        </p:nvSpPr>
        <p:spPr>
          <a:xfrm rot="5400000">
            <a:off x="3544672" y="2600084"/>
            <a:ext cx="420624" cy="454273"/>
          </a:xfrm>
          <a:prstGeom prst="hexagon">
            <a:avLst/>
          </a:prstGeom>
          <a:solidFill>
            <a:srgbClr val="E2E8F0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F172A"/>
                </a:solidFill>
                <a:latin typeface="Microsoft YaHei"/>
              </a:rPr>
              <a:t>(7,1)</a:t>
            </a:r>
          </a:p>
        </p:txBody>
      </p:sp>
      <p:sp>
        <p:nvSpPr>
          <p:cNvPr id="9" name="Hexagon 8"/>
          <p:cNvSpPr/>
          <p:nvPr/>
        </p:nvSpPr>
        <p:spPr>
          <a:xfrm rot="5400000">
            <a:off x="3544672" y="2181185"/>
            <a:ext cx="420624" cy="454273"/>
          </a:xfrm>
          <a:prstGeom prst="hexagon">
            <a:avLst/>
          </a:prstGeom>
          <a:solidFill>
            <a:srgbClr val="E2E8F0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F172A"/>
                </a:solidFill>
                <a:latin typeface="Microsoft YaHei"/>
              </a:rPr>
              <a:t>(8,1)</a:t>
            </a:r>
          </a:p>
        </p:txBody>
      </p:sp>
      <p:sp>
        <p:nvSpPr>
          <p:cNvPr id="10" name="Hexagon 9"/>
          <p:cNvSpPr/>
          <p:nvPr/>
        </p:nvSpPr>
        <p:spPr>
          <a:xfrm rot="5400000">
            <a:off x="3544672" y="1762286"/>
            <a:ext cx="420624" cy="454273"/>
          </a:xfrm>
          <a:prstGeom prst="hexagon">
            <a:avLst/>
          </a:prstGeom>
          <a:solidFill>
            <a:srgbClr val="E2E8F0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F172A"/>
                </a:solidFill>
                <a:latin typeface="Microsoft YaHei"/>
              </a:rPr>
              <a:t>(9,1)</a:t>
            </a:r>
          </a:p>
        </p:txBody>
      </p:sp>
      <p:sp>
        <p:nvSpPr>
          <p:cNvPr id="11" name="Hexagon 10"/>
          <p:cNvSpPr/>
          <p:nvPr/>
        </p:nvSpPr>
        <p:spPr>
          <a:xfrm rot="5400000">
            <a:off x="3907460" y="4066230"/>
            <a:ext cx="420624" cy="454273"/>
          </a:xfrm>
          <a:prstGeom prst="hexagon">
            <a:avLst/>
          </a:prstGeom>
          <a:solidFill>
            <a:srgbClr val="2563EB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(3,2)</a:t>
            </a:r>
          </a:p>
          <a:p>
            <a:pPr algn="ctr"/>
            <a:r>
              <a:rPr sz="700" b="0">
                <a:solidFill>
                  <a:srgbClr val="FFFFFF"/>
                </a:solidFill>
                <a:latin typeface="Microsoft YaHei"/>
              </a:rPr>
              <a:t>己方</a:t>
            </a:r>
          </a:p>
        </p:txBody>
      </p:sp>
      <p:sp>
        <p:nvSpPr>
          <p:cNvPr id="12" name="Hexagon 11"/>
          <p:cNvSpPr/>
          <p:nvPr/>
        </p:nvSpPr>
        <p:spPr>
          <a:xfrm rot="5400000">
            <a:off x="3907460" y="3647331"/>
            <a:ext cx="420624" cy="454273"/>
          </a:xfrm>
          <a:prstGeom prst="hexagon">
            <a:avLst/>
          </a:prstGeom>
          <a:solidFill>
            <a:srgbClr val="E2E8F0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F172A"/>
                </a:solidFill>
                <a:latin typeface="Microsoft YaHei"/>
              </a:rPr>
              <a:t>(4,2)</a:t>
            </a:r>
          </a:p>
        </p:txBody>
      </p:sp>
      <p:sp>
        <p:nvSpPr>
          <p:cNvPr id="13" name="Hexagon 12"/>
          <p:cNvSpPr/>
          <p:nvPr/>
        </p:nvSpPr>
        <p:spPr>
          <a:xfrm rot="5400000">
            <a:off x="3907460" y="3228432"/>
            <a:ext cx="420624" cy="454273"/>
          </a:xfrm>
          <a:prstGeom prst="hexagon">
            <a:avLst/>
          </a:prstGeom>
          <a:solidFill>
            <a:srgbClr val="1F2937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(5,2)</a:t>
            </a:r>
          </a:p>
          <a:p>
            <a:pPr algn="ctr"/>
            <a:r>
              <a:rPr sz="700" b="0">
                <a:solidFill>
                  <a:srgbClr val="FFFFFF"/>
                </a:solidFill>
                <a:latin typeface="Microsoft YaHei"/>
              </a:rPr>
              <a:t>得分</a:t>
            </a:r>
          </a:p>
        </p:txBody>
      </p:sp>
      <p:sp>
        <p:nvSpPr>
          <p:cNvPr id="14" name="Hexagon 13"/>
          <p:cNvSpPr/>
          <p:nvPr/>
        </p:nvSpPr>
        <p:spPr>
          <a:xfrm rot="5400000">
            <a:off x="3907460" y="2809533"/>
            <a:ext cx="420624" cy="454273"/>
          </a:xfrm>
          <a:prstGeom prst="hexagon">
            <a:avLst/>
          </a:prstGeom>
          <a:solidFill>
            <a:srgbClr val="1F2937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(6,2)</a:t>
            </a:r>
          </a:p>
          <a:p>
            <a:pPr algn="ctr"/>
            <a:r>
              <a:rPr sz="700" b="0">
                <a:solidFill>
                  <a:srgbClr val="FFFFFF"/>
                </a:solidFill>
                <a:latin typeface="Microsoft YaHei"/>
              </a:rPr>
              <a:t>得分</a:t>
            </a:r>
          </a:p>
        </p:txBody>
      </p:sp>
      <p:sp>
        <p:nvSpPr>
          <p:cNvPr id="15" name="Hexagon 14"/>
          <p:cNvSpPr/>
          <p:nvPr/>
        </p:nvSpPr>
        <p:spPr>
          <a:xfrm rot="5400000">
            <a:off x="3907460" y="2390635"/>
            <a:ext cx="420624" cy="454273"/>
          </a:xfrm>
          <a:prstGeom prst="hexagon">
            <a:avLst/>
          </a:prstGeom>
          <a:solidFill>
            <a:srgbClr val="E2E8F0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F172A"/>
                </a:solidFill>
                <a:latin typeface="Microsoft YaHei"/>
              </a:rPr>
              <a:t>(7,2)</a:t>
            </a:r>
          </a:p>
        </p:txBody>
      </p:sp>
      <p:sp>
        <p:nvSpPr>
          <p:cNvPr id="16" name="Hexagon 15"/>
          <p:cNvSpPr/>
          <p:nvPr/>
        </p:nvSpPr>
        <p:spPr>
          <a:xfrm rot="5400000">
            <a:off x="3907460" y="1971736"/>
            <a:ext cx="420624" cy="454273"/>
          </a:xfrm>
          <a:prstGeom prst="hexagon">
            <a:avLst/>
          </a:prstGeom>
          <a:solidFill>
            <a:srgbClr val="DC2626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(8,2)</a:t>
            </a:r>
          </a:p>
          <a:p>
            <a:pPr algn="ctr"/>
            <a:r>
              <a:rPr sz="700" b="0">
                <a:solidFill>
                  <a:srgbClr val="FFFFFF"/>
                </a:solidFill>
                <a:latin typeface="Microsoft YaHei"/>
              </a:rPr>
              <a:t>对方</a:t>
            </a:r>
          </a:p>
        </p:txBody>
      </p:sp>
      <p:sp>
        <p:nvSpPr>
          <p:cNvPr id="17" name="Hexagon 16"/>
          <p:cNvSpPr/>
          <p:nvPr/>
        </p:nvSpPr>
        <p:spPr>
          <a:xfrm rot="5400000">
            <a:off x="3907460" y="1552837"/>
            <a:ext cx="420624" cy="454273"/>
          </a:xfrm>
          <a:prstGeom prst="hexagon">
            <a:avLst/>
          </a:prstGeom>
          <a:solidFill>
            <a:srgbClr val="E2E8F0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F172A"/>
                </a:solidFill>
                <a:latin typeface="Microsoft YaHei"/>
              </a:rPr>
              <a:t>(9,2)</a:t>
            </a:r>
          </a:p>
        </p:txBody>
      </p:sp>
      <p:sp>
        <p:nvSpPr>
          <p:cNvPr id="18" name="Hexagon 17"/>
          <p:cNvSpPr/>
          <p:nvPr/>
        </p:nvSpPr>
        <p:spPr>
          <a:xfrm rot="5400000">
            <a:off x="4270248" y="4275680"/>
            <a:ext cx="420624" cy="454273"/>
          </a:xfrm>
          <a:prstGeom prst="hexagon">
            <a:avLst/>
          </a:prstGeom>
          <a:solidFill>
            <a:srgbClr val="2563EB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(2,3)</a:t>
            </a:r>
          </a:p>
          <a:p>
            <a:pPr algn="ctr"/>
            <a:r>
              <a:rPr sz="700" b="0">
                <a:solidFill>
                  <a:srgbClr val="FFFFFF"/>
                </a:solidFill>
                <a:latin typeface="Microsoft YaHei"/>
              </a:rPr>
              <a:t>己方</a:t>
            </a:r>
          </a:p>
        </p:txBody>
      </p:sp>
      <p:sp>
        <p:nvSpPr>
          <p:cNvPr id="19" name="Hexagon 18"/>
          <p:cNvSpPr/>
          <p:nvPr/>
        </p:nvSpPr>
        <p:spPr>
          <a:xfrm rot="5400000">
            <a:off x="4270248" y="3856781"/>
            <a:ext cx="420624" cy="454273"/>
          </a:xfrm>
          <a:prstGeom prst="hexagon">
            <a:avLst/>
          </a:prstGeom>
          <a:solidFill>
            <a:srgbClr val="E2E8F0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F172A"/>
                </a:solidFill>
                <a:latin typeface="Microsoft YaHei"/>
              </a:rPr>
              <a:t>(3,3)</a:t>
            </a:r>
          </a:p>
        </p:txBody>
      </p:sp>
      <p:sp>
        <p:nvSpPr>
          <p:cNvPr id="20" name="Hexagon 19"/>
          <p:cNvSpPr/>
          <p:nvPr/>
        </p:nvSpPr>
        <p:spPr>
          <a:xfrm rot="5400000">
            <a:off x="4270248" y="3437882"/>
            <a:ext cx="420624" cy="454273"/>
          </a:xfrm>
          <a:prstGeom prst="hexagon">
            <a:avLst/>
          </a:prstGeom>
          <a:solidFill>
            <a:srgbClr val="1F2937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(4,3)</a:t>
            </a:r>
          </a:p>
          <a:p>
            <a:pPr algn="ctr"/>
            <a:r>
              <a:rPr sz="700" b="0">
                <a:solidFill>
                  <a:srgbClr val="FFFFFF"/>
                </a:solidFill>
                <a:latin typeface="Microsoft YaHei"/>
              </a:rPr>
              <a:t>得分</a:t>
            </a:r>
          </a:p>
        </p:txBody>
      </p:sp>
      <p:sp>
        <p:nvSpPr>
          <p:cNvPr id="21" name="Hexagon 20"/>
          <p:cNvSpPr/>
          <p:nvPr/>
        </p:nvSpPr>
        <p:spPr>
          <a:xfrm rot="5400000">
            <a:off x="4270248" y="3018983"/>
            <a:ext cx="420624" cy="454273"/>
          </a:xfrm>
          <a:prstGeom prst="hexagon">
            <a:avLst/>
          </a:prstGeom>
          <a:solidFill>
            <a:srgbClr val="1F2937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(5,3)</a:t>
            </a:r>
          </a:p>
          <a:p>
            <a:pPr algn="ctr"/>
            <a:r>
              <a:rPr sz="700" b="0">
                <a:solidFill>
                  <a:srgbClr val="FFFFFF"/>
                </a:solidFill>
                <a:latin typeface="Microsoft YaHei"/>
              </a:rPr>
              <a:t>得分</a:t>
            </a:r>
          </a:p>
        </p:txBody>
      </p:sp>
      <p:sp>
        <p:nvSpPr>
          <p:cNvPr id="22" name="Hexagon 21"/>
          <p:cNvSpPr/>
          <p:nvPr/>
        </p:nvSpPr>
        <p:spPr>
          <a:xfrm rot="5400000">
            <a:off x="4270248" y="2600084"/>
            <a:ext cx="420624" cy="454273"/>
          </a:xfrm>
          <a:prstGeom prst="hexagon">
            <a:avLst/>
          </a:prstGeom>
          <a:solidFill>
            <a:srgbClr val="1F2937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(6,3)</a:t>
            </a:r>
          </a:p>
          <a:p>
            <a:pPr algn="ctr"/>
            <a:r>
              <a:rPr sz="700" b="0">
                <a:solidFill>
                  <a:srgbClr val="FFFFFF"/>
                </a:solidFill>
                <a:latin typeface="Microsoft YaHei"/>
              </a:rPr>
              <a:t>得分</a:t>
            </a:r>
          </a:p>
        </p:txBody>
      </p:sp>
      <p:sp>
        <p:nvSpPr>
          <p:cNvPr id="23" name="Hexagon 22"/>
          <p:cNvSpPr/>
          <p:nvPr/>
        </p:nvSpPr>
        <p:spPr>
          <a:xfrm rot="5400000">
            <a:off x="4270248" y="2181185"/>
            <a:ext cx="420624" cy="454273"/>
          </a:xfrm>
          <a:prstGeom prst="hexagon">
            <a:avLst/>
          </a:prstGeom>
          <a:solidFill>
            <a:srgbClr val="E2E8F0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F172A"/>
                </a:solidFill>
                <a:latin typeface="Microsoft YaHei"/>
              </a:rPr>
              <a:t>(7,3)</a:t>
            </a:r>
          </a:p>
        </p:txBody>
      </p:sp>
      <p:sp>
        <p:nvSpPr>
          <p:cNvPr id="24" name="Hexagon 23"/>
          <p:cNvSpPr/>
          <p:nvPr/>
        </p:nvSpPr>
        <p:spPr>
          <a:xfrm rot="5400000">
            <a:off x="4270248" y="1762286"/>
            <a:ext cx="420624" cy="454273"/>
          </a:xfrm>
          <a:prstGeom prst="hexagon">
            <a:avLst/>
          </a:prstGeom>
          <a:solidFill>
            <a:srgbClr val="DC2626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(8,3)</a:t>
            </a:r>
          </a:p>
          <a:p>
            <a:pPr algn="ctr"/>
            <a:r>
              <a:rPr sz="700" b="0">
                <a:solidFill>
                  <a:srgbClr val="FFFFFF"/>
                </a:solidFill>
                <a:latin typeface="Microsoft YaHei"/>
              </a:rPr>
              <a:t>对方</a:t>
            </a:r>
          </a:p>
        </p:txBody>
      </p:sp>
      <p:sp>
        <p:nvSpPr>
          <p:cNvPr id="25" name="Hexagon 24"/>
          <p:cNvSpPr/>
          <p:nvPr/>
        </p:nvSpPr>
        <p:spPr>
          <a:xfrm rot="5400000">
            <a:off x="4633035" y="4066230"/>
            <a:ext cx="420624" cy="454273"/>
          </a:xfrm>
          <a:prstGeom prst="hexagon">
            <a:avLst/>
          </a:prstGeom>
          <a:solidFill>
            <a:srgbClr val="2563EB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(2,4)</a:t>
            </a:r>
          </a:p>
          <a:p>
            <a:pPr algn="ctr"/>
            <a:r>
              <a:rPr sz="700" b="0">
                <a:solidFill>
                  <a:srgbClr val="FFFFFF"/>
                </a:solidFill>
                <a:latin typeface="Microsoft YaHei"/>
              </a:rPr>
              <a:t>己方</a:t>
            </a:r>
          </a:p>
        </p:txBody>
      </p:sp>
      <p:sp>
        <p:nvSpPr>
          <p:cNvPr id="26" name="Hexagon 25"/>
          <p:cNvSpPr/>
          <p:nvPr/>
        </p:nvSpPr>
        <p:spPr>
          <a:xfrm rot="5400000">
            <a:off x="4633035" y="3647331"/>
            <a:ext cx="420624" cy="454273"/>
          </a:xfrm>
          <a:prstGeom prst="hexagon">
            <a:avLst/>
          </a:prstGeom>
          <a:solidFill>
            <a:srgbClr val="E2E8F0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F172A"/>
                </a:solidFill>
                <a:latin typeface="Microsoft YaHei"/>
              </a:rPr>
              <a:t>(3,4)</a:t>
            </a:r>
          </a:p>
        </p:txBody>
      </p:sp>
      <p:sp>
        <p:nvSpPr>
          <p:cNvPr id="27" name="Hexagon 26"/>
          <p:cNvSpPr/>
          <p:nvPr/>
        </p:nvSpPr>
        <p:spPr>
          <a:xfrm rot="5400000">
            <a:off x="4633035" y="3228432"/>
            <a:ext cx="420624" cy="454273"/>
          </a:xfrm>
          <a:prstGeom prst="hexagon">
            <a:avLst/>
          </a:prstGeom>
          <a:solidFill>
            <a:srgbClr val="1F2937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(4,4)</a:t>
            </a:r>
          </a:p>
          <a:p>
            <a:pPr algn="ctr"/>
            <a:r>
              <a:rPr sz="700" b="0">
                <a:solidFill>
                  <a:srgbClr val="FFFFFF"/>
                </a:solidFill>
                <a:latin typeface="Microsoft YaHei"/>
              </a:rPr>
              <a:t>得分</a:t>
            </a:r>
          </a:p>
        </p:txBody>
      </p:sp>
      <p:sp>
        <p:nvSpPr>
          <p:cNvPr id="28" name="Hexagon 27"/>
          <p:cNvSpPr/>
          <p:nvPr/>
        </p:nvSpPr>
        <p:spPr>
          <a:xfrm rot="5400000">
            <a:off x="4633035" y="2809533"/>
            <a:ext cx="420624" cy="454273"/>
          </a:xfrm>
          <a:prstGeom prst="hexagon">
            <a:avLst/>
          </a:prstGeom>
          <a:solidFill>
            <a:srgbClr val="1F2937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(5,4)</a:t>
            </a:r>
          </a:p>
          <a:p>
            <a:pPr algn="ctr"/>
            <a:r>
              <a:rPr sz="700" b="0">
                <a:solidFill>
                  <a:srgbClr val="FFFFFF"/>
                </a:solidFill>
                <a:latin typeface="Microsoft YaHei"/>
              </a:rPr>
              <a:t>得分</a:t>
            </a:r>
          </a:p>
        </p:txBody>
      </p:sp>
      <p:sp>
        <p:nvSpPr>
          <p:cNvPr id="29" name="Hexagon 28"/>
          <p:cNvSpPr/>
          <p:nvPr/>
        </p:nvSpPr>
        <p:spPr>
          <a:xfrm rot="5400000">
            <a:off x="4633035" y="2390635"/>
            <a:ext cx="420624" cy="454273"/>
          </a:xfrm>
          <a:prstGeom prst="hexagon">
            <a:avLst/>
          </a:prstGeom>
          <a:solidFill>
            <a:srgbClr val="E2E8F0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F172A"/>
                </a:solidFill>
                <a:latin typeface="Microsoft YaHei"/>
              </a:rPr>
              <a:t>(6,4)</a:t>
            </a:r>
          </a:p>
        </p:txBody>
      </p:sp>
      <p:sp>
        <p:nvSpPr>
          <p:cNvPr id="30" name="Hexagon 29"/>
          <p:cNvSpPr/>
          <p:nvPr/>
        </p:nvSpPr>
        <p:spPr>
          <a:xfrm rot="5400000">
            <a:off x="4633035" y="1971736"/>
            <a:ext cx="420624" cy="454273"/>
          </a:xfrm>
          <a:prstGeom prst="hexagon">
            <a:avLst/>
          </a:prstGeom>
          <a:solidFill>
            <a:srgbClr val="DC2626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(7,4)</a:t>
            </a:r>
          </a:p>
          <a:p>
            <a:pPr algn="ctr"/>
            <a:r>
              <a:rPr sz="700" b="0">
                <a:solidFill>
                  <a:srgbClr val="FFFFFF"/>
                </a:solidFill>
                <a:latin typeface="Microsoft YaHei"/>
              </a:rPr>
              <a:t>对方</a:t>
            </a:r>
          </a:p>
        </p:txBody>
      </p:sp>
      <p:sp>
        <p:nvSpPr>
          <p:cNvPr id="31" name="Hexagon 30"/>
          <p:cNvSpPr/>
          <p:nvPr/>
        </p:nvSpPr>
        <p:spPr>
          <a:xfrm rot="5400000">
            <a:off x="4633035" y="1552837"/>
            <a:ext cx="420624" cy="454273"/>
          </a:xfrm>
          <a:prstGeom prst="hexagon">
            <a:avLst/>
          </a:prstGeom>
          <a:solidFill>
            <a:srgbClr val="E2E8F0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F172A"/>
                </a:solidFill>
                <a:latin typeface="Microsoft YaHei"/>
              </a:rPr>
              <a:t>(8,4)</a:t>
            </a:r>
          </a:p>
        </p:txBody>
      </p:sp>
      <p:sp>
        <p:nvSpPr>
          <p:cNvPr id="32" name="Hexagon 31"/>
          <p:cNvSpPr/>
          <p:nvPr/>
        </p:nvSpPr>
        <p:spPr>
          <a:xfrm rot="5400000">
            <a:off x="4995823" y="3856781"/>
            <a:ext cx="420624" cy="454273"/>
          </a:xfrm>
          <a:prstGeom prst="hexagon">
            <a:avLst/>
          </a:prstGeom>
          <a:solidFill>
            <a:srgbClr val="E2E8F0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F172A"/>
                </a:solidFill>
                <a:latin typeface="Microsoft YaHei"/>
              </a:rPr>
              <a:t>(2,5)</a:t>
            </a:r>
          </a:p>
        </p:txBody>
      </p:sp>
      <p:sp>
        <p:nvSpPr>
          <p:cNvPr id="33" name="Hexagon 32"/>
          <p:cNvSpPr/>
          <p:nvPr/>
        </p:nvSpPr>
        <p:spPr>
          <a:xfrm rot="5400000">
            <a:off x="4995823" y="3437882"/>
            <a:ext cx="420624" cy="454273"/>
          </a:xfrm>
          <a:prstGeom prst="hexagon">
            <a:avLst/>
          </a:prstGeom>
          <a:solidFill>
            <a:srgbClr val="E2E8F0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F172A"/>
                </a:solidFill>
                <a:latin typeface="Microsoft YaHei"/>
              </a:rPr>
              <a:t>(3,5)</a:t>
            </a:r>
          </a:p>
        </p:txBody>
      </p:sp>
      <p:sp>
        <p:nvSpPr>
          <p:cNvPr id="34" name="Hexagon 33"/>
          <p:cNvSpPr/>
          <p:nvPr/>
        </p:nvSpPr>
        <p:spPr>
          <a:xfrm rot="5400000">
            <a:off x="4995823" y="3018983"/>
            <a:ext cx="420624" cy="454273"/>
          </a:xfrm>
          <a:prstGeom prst="hexagon">
            <a:avLst/>
          </a:prstGeom>
          <a:solidFill>
            <a:srgbClr val="E2E8F0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F172A"/>
                </a:solidFill>
                <a:latin typeface="Microsoft YaHei"/>
              </a:rPr>
              <a:t>(4,5)</a:t>
            </a:r>
          </a:p>
        </p:txBody>
      </p:sp>
      <p:sp>
        <p:nvSpPr>
          <p:cNvPr id="35" name="Hexagon 34"/>
          <p:cNvSpPr/>
          <p:nvPr/>
        </p:nvSpPr>
        <p:spPr>
          <a:xfrm rot="5400000">
            <a:off x="4995823" y="2600084"/>
            <a:ext cx="420624" cy="454273"/>
          </a:xfrm>
          <a:prstGeom prst="hexagon">
            <a:avLst/>
          </a:prstGeom>
          <a:solidFill>
            <a:srgbClr val="E2E8F0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F172A"/>
                </a:solidFill>
                <a:latin typeface="Microsoft YaHei"/>
              </a:rPr>
              <a:t>(5,5)</a:t>
            </a:r>
          </a:p>
        </p:txBody>
      </p:sp>
      <p:sp>
        <p:nvSpPr>
          <p:cNvPr id="36" name="Hexagon 35"/>
          <p:cNvSpPr/>
          <p:nvPr/>
        </p:nvSpPr>
        <p:spPr>
          <a:xfrm rot="5400000">
            <a:off x="4995823" y="2181185"/>
            <a:ext cx="420624" cy="454273"/>
          </a:xfrm>
          <a:prstGeom prst="hexagon">
            <a:avLst/>
          </a:prstGeom>
          <a:solidFill>
            <a:srgbClr val="E2E8F0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F172A"/>
                </a:solidFill>
                <a:latin typeface="Microsoft YaHei"/>
              </a:rPr>
              <a:t>(6,5)</a:t>
            </a:r>
          </a:p>
        </p:txBody>
      </p:sp>
      <p:sp>
        <p:nvSpPr>
          <p:cNvPr id="37" name="Hexagon 36"/>
          <p:cNvSpPr/>
          <p:nvPr/>
        </p:nvSpPr>
        <p:spPr>
          <a:xfrm rot="5400000">
            <a:off x="4995823" y="1762286"/>
            <a:ext cx="420624" cy="454273"/>
          </a:xfrm>
          <a:prstGeom prst="hexagon">
            <a:avLst/>
          </a:prstGeom>
          <a:solidFill>
            <a:srgbClr val="E2E8F0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F172A"/>
                </a:solidFill>
                <a:latin typeface="Microsoft YaHei"/>
              </a:rPr>
              <a:t>(7,5)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00600" y="313639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EA5E9"/>
                </a:solidFill>
                <a:latin typeface="Microsoft YaHei"/>
              </a:rPr>
              <a:t>几何中心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40480" y="868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DC2626"/>
                </a:solidFill>
                <a:latin typeface="Microsoft YaHei"/>
              </a:rPr>
              <a:t>↑ 对方方向（y 减小）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40480" y="5623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563EB"/>
                </a:solidFill>
                <a:latin typeface="Microsoft YaHei"/>
              </a:rPr>
              <a:t>↓ 己方方向（y 增大）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960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Microsoft YaHei"/>
              </a:rPr>
              <a:t>图例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" y="1252728"/>
            <a:ext cx="201168" cy="164592"/>
          </a:xfrm>
          <a:prstGeom prst="rect">
            <a:avLst/>
          </a:prstGeom>
          <a:solidFill>
            <a:srgbClr val="1F2937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7512" y="123444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Microsoft YaHei"/>
              </a:rPr>
              <a:t>得分区（7 格）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1480" y="1472184"/>
            <a:ext cx="201168" cy="164592"/>
          </a:xfrm>
          <a:prstGeom prst="rect">
            <a:avLst/>
          </a:prstGeom>
          <a:solidFill>
            <a:srgbClr val="2563EB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7512" y="1453896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Microsoft YaHei"/>
              </a:rPr>
              <a:t>己方出生点（3 格，下方短边三角区）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1480" y="1691640"/>
            <a:ext cx="201168" cy="164592"/>
          </a:xfrm>
          <a:prstGeom prst="rect">
            <a:avLst/>
          </a:prstGeom>
          <a:solidFill>
            <a:srgbClr val="DC2626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7512" y="1673352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Microsoft YaHei"/>
              </a:rPr>
              <a:t>对方出生点（3 格，上方短边 · 镜像显示）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" y="1911096"/>
            <a:ext cx="201168" cy="164592"/>
          </a:xfrm>
          <a:prstGeom prst="rect">
            <a:avLst/>
          </a:prstGeom>
          <a:solidFill>
            <a:srgbClr val="E2E8F0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7512" y="189280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Microsoft YaHei"/>
              </a:rPr>
              <a:t>普通 battlefield 格（24 格）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Microsoft YaHei"/>
              </a:rPr>
              <a:t>8. 得分区结算规则（得分阶段）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60120"/>
          <a:ext cx="71323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560320"/>
                <a:gridCol w="1463040"/>
                <a:gridCol w="1280160"/>
              </a:tblGrid>
              <a:tr h="3200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Microsoft YaHei"/>
                        </a:rPr>
                        <a:t>触发条件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Microsoft YaHei"/>
                        </a:rPr>
                        <a:t>统计对象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Microsoft YaHei"/>
                        </a:rPr>
                        <a:t>计分规则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Microsoft YaHei"/>
                        </a:rPr>
                        <a:t>结果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主要阶段双方均放弃继续行动后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得分区任一格子内存活角色数（按 player_id）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己方人数 &gt; 对方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己方 +2 分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（同上）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只统计存活且在板上的角色；按棋子个数非占格数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双方人数相同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双方各 +1 分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（同上）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同一玩家占多格仍按英雄个数计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己方人数 &lt; 对方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己方 0 分（对方 +2 分）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029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</a:rPr>
              <a:t>与击杀得分（+3 分/次）叠加累计；先达到 9 分者获胜。当前设计为单一中央得分区；若将来拆分多区，每区独立结算一次。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Microsoft YaHei"/>
              </a:rPr>
              <a:t>9. 配置速查（供程序 / AI 直接引用）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813816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F172A"/>
                </a:solidFill>
                <a:latin typeface="Consolas"/>
              </a:rPr>
              <a:t># 策划目标 — 中央得分区（zone_id: center）
scoring_zone_center:
  cells:
    - { x: 5, y: 3 }
    - { x: 4, y: 3 }
    - { x: 6, y: 3 }
    - { x: 5, y: 2 }
    - { x: 5, y: 4 }
    - { x: 4, y: 4 }
    - { x: 6, y: 2 }
  scoring:
    win_more: 2      # 区内人数多者
    tie_each: 1      # 人数相同双方各得
# 策划目标 — 出生点（每方 3 英雄）
spawn_self:
  cells:
    - { x: 3, y: 2 }
    - { x: 2, y: 3 }
    - { x: 2, y: 4 }
# 对方逻辑同 spawn_self；客户端镜像显示在上方短边（PPT 标注为 7,4 / 8,3 / 8,2）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Microsoft YaHei"/>
              </a:rPr>
              <a:t>10. 与当前程序实现的差异（AI 协作必读）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60120"/>
          <a:ext cx="77724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926080"/>
                <a:gridCol w="3200400"/>
              </a:tblGrid>
              <a:tr h="3200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Microsoft YaHei"/>
                        </a:rPr>
                        <a:t>项目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Microsoft YaHei"/>
                        </a:rPr>
                        <a:t>策划目标（权威）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Microsoft YaHei"/>
                        </a:rPr>
                        <a:t>当前工程状态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出生点坐标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(3,2)(2,3)(2,4) 三角区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DeployInitialHeroes() 已用该组坐标 ✅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得分区标记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上表 7 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未实现标记与结算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得分阶段结算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每回合双方弃权后按人数计分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未实现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棋盘可视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34 格六边形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0F172A"/>
                          </a:solidFill>
                          <a:latin typeface="Microsoft YaHei"/>
                        </a:rPr>
                        <a:t>Game.unity 已具备 ✅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1206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C2626"/>
                </a:solidFill>
                <a:latin typeface="Microsoft YaHei"/>
              </a:rPr>
              <a:t>实现时以本 PPT 及 战场女武神5最新规则与卡牌-20260621.md 为准；出生点、得分区、得分阶段需按策划目标补齐。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